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65" r:id="rId1"/>
  </p:sldMasterIdLst>
  <p:notesMasterIdLst>
    <p:notesMasterId r:id="rId22"/>
  </p:notesMasterIdLst>
  <p:handoutMasterIdLst>
    <p:handoutMasterId r:id="rId23"/>
  </p:handoutMasterIdLst>
  <p:sldIdLst>
    <p:sldId id="256" r:id="rId2"/>
    <p:sldId id="267" r:id="rId3"/>
    <p:sldId id="274" r:id="rId4"/>
    <p:sldId id="275" r:id="rId5"/>
    <p:sldId id="276" r:id="rId6"/>
    <p:sldId id="278" r:id="rId7"/>
    <p:sldId id="279" r:id="rId8"/>
    <p:sldId id="261" r:id="rId9"/>
    <p:sldId id="280" r:id="rId10"/>
    <p:sldId id="281" r:id="rId11"/>
    <p:sldId id="282" r:id="rId12"/>
    <p:sldId id="283" r:id="rId13"/>
    <p:sldId id="294" r:id="rId14"/>
    <p:sldId id="293" r:id="rId15"/>
    <p:sldId id="284" r:id="rId16"/>
    <p:sldId id="286" r:id="rId17"/>
    <p:sldId id="287" r:id="rId18"/>
    <p:sldId id="277" r:id="rId19"/>
    <p:sldId id="291" r:id="rId20"/>
    <p:sldId id="292" r:id="rId21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5" pos="3839">
          <p15:clr>
            <a:srgbClr val="A4A3A4"/>
          </p15:clr>
        </p15:guide>
        <p15:guide id="6" pos="1007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73A0DAA-6AF3-43AB-8588-CEC1D06C72B9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E3FDE45-AF77-4B5C-9715-49D594BDF05E}" styleName="Светлый стиль 1 — акцент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howGuides="1">
      <p:cViewPr varScale="1">
        <p:scale>
          <a:sx n="114" d="100"/>
          <a:sy n="114" d="100"/>
        </p:scale>
        <p:origin x="414" y="114"/>
      </p:cViewPr>
      <p:guideLst>
        <p:guide orient="horz" pos="2160"/>
        <p:guide pos="3839"/>
        <p:guide pos="1007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85" d="100"/>
          <a:sy n="85" d="100"/>
        </p:scale>
        <p:origin x="3054" y="102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ru-RU" dirty="0"/>
          </a:p>
        </p:txBody>
      </p:sp>
      <p:sp>
        <p:nvSpPr>
          <p:cNvPr id="3" name="Дата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A3BC5DFD-D59C-4A78-9863-7389301FC12B}" type="datetime1">
              <a:rPr lang="ru-RU" smtClean="0"/>
              <a:t>20.10.2026</a:t>
            </a:fld>
            <a:endParaRPr lang="ru-RU" dirty="0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ru-RU" dirty="0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04360E59-1627-4404-ACC5-51C744AB0F27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16225429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pPr rtl="0"/>
            <a:endParaRPr lang="ru-RU" dirty="0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pPr rtl="0"/>
            <a:fld id="{4772CC64-04AB-4F40-B370-C9EC22A15BA9}" type="datetime1">
              <a:rPr lang="ru-RU" smtClean="0"/>
              <a:t>20.10.2026</a:t>
            </a:fld>
            <a:endParaRPr lang="ru-RU" dirty="0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ru-RU" dirty="0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ru-RU" dirty="0"/>
              <a:t>Щелкните, чтобы изменить стили текста образца слайда</a:t>
            </a:r>
          </a:p>
          <a:p>
            <a:pPr lvl="1" rtl="0"/>
            <a:r>
              <a:rPr lang="ru-RU" dirty="0"/>
              <a:t>Второй уровень</a:t>
            </a:r>
          </a:p>
          <a:p>
            <a:pPr lvl="2" rtl="0"/>
            <a:r>
              <a:rPr lang="ru-RU" dirty="0"/>
              <a:t>Третий уровень</a:t>
            </a:r>
          </a:p>
          <a:p>
            <a:pPr lvl="3" rtl="0"/>
            <a:r>
              <a:rPr lang="ru-RU" dirty="0"/>
              <a:t>Четвертый уровень</a:t>
            </a:r>
          </a:p>
          <a:p>
            <a:pPr lvl="4" rtl="0"/>
            <a:r>
              <a:rPr lang="ru-RU" dirty="0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pPr rtl="0"/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pPr rtl="0"/>
            <a:fld id="{841221E5-7225-48EB-A4EE-420E7BFCF705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56669918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2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2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2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2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2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841221E5-7225-48EB-A4EE-420E7BFCF705}" type="slidenum">
              <a:rPr lang="ru-RU" smtClean="0"/>
              <a:pPr rtl="0"/>
              <a:t>1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1990609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841221E5-7225-48EB-A4EE-420E7BFCF705}" type="slidenum">
              <a:rPr lang="ru-RU" smtClean="0"/>
              <a:pPr rtl="0"/>
              <a:t>2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323686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841221E5-7225-48EB-A4EE-420E7BFCF705}" type="slidenum">
              <a:rPr lang="ru-RU" smtClean="0"/>
              <a:pPr rtl="0"/>
              <a:t>3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9579201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841221E5-7225-48EB-A4EE-420E7BFCF705}" type="slidenum">
              <a:rPr lang="ru-RU" smtClean="0"/>
              <a:pPr rtl="0"/>
              <a:t>4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7434004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841221E5-7225-48EB-A4EE-420E7BFCF705}" type="slidenum">
              <a:rPr lang="ru-RU" smtClean="0"/>
              <a:pPr rtl="0"/>
              <a:t>5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0179554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841221E5-7225-48EB-A4EE-420E7BFCF705}" type="slidenum">
              <a:rPr lang="ru-RU" smtClean="0"/>
              <a:pPr rtl="0"/>
              <a:t>6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6848379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841221E5-7225-48EB-A4EE-420E7BFCF705}" type="slidenum">
              <a:rPr lang="ru-RU" smtClean="0"/>
              <a:pPr rtl="0"/>
              <a:t>7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4104543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Google Shape;139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841221E5-7225-48EB-A4EE-420E7BFCF705}" type="slidenum">
              <a:rPr lang="ru-RU" smtClean="0"/>
              <a:pPr rtl="0"/>
              <a:t>9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8561190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841221E5-7225-48EB-A4EE-420E7BFCF705}" type="slidenum">
              <a:rPr lang="ru-RU" smtClean="0"/>
              <a:pPr rtl="0"/>
              <a:t>10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2594746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841221E5-7225-48EB-A4EE-420E7BFCF705}" type="slidenum">
              <a:rPr lang="ru-RU" smtClean="0"/>
              <a:pPr rtl="0"/>
              <a:t>11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4658666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841221E5-7225-48EB-A4EE-420E7BFCF705}" type="slidenum">
              <a:rPr lang="ru-RU" smtClean="0"/>
              <a:pPr rtl="0"/>
              <a:t>12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7888744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841221E5-7225-48EB-A4EE-420E7BFCF705}" type="slidenum">
              <a:rPr lang="ru-RU" smtClean="0"/>
              <a:pPr rtl="0"/>
              <a:t>13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0982333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841221E5-7225-48EB-A4EE-420E7BFCF705}" type="slidenum">
              <a:rPr lang="ru-RU" smtClean="0"/>
              <a:pPr rtl="0"/>
              <a:t>14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8913298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841221E5-7225-48EB-A4EE-420E7BFCF705}" type="slidenum">
              <a:rPr lang="ru-RU" smtClean="0"/>
              <a:pPr rtl="0"/>
              <a:t>15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0861642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841221E5-7225-48EB-A4EE-420E7BFCF705}" type="slidenum">
              <a:rPr lang="ru-RU" smtClean="0"/>
              <a:pPr rtl="0"/>
              <a:t>16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8224201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841221E5-7225-48EB-A4EE-420E7BFCF705}" type="slidenum">
              <a:rPr lang="ru-RU" smtClean="0"/>
              <a:pPr rtl="0"/>
              <a:t>17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2709397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841221E5-7225-48EB-A4EE-420E7BFCF705}" type="slidenum">
              <a:rPr lang="ru-RU" smtClean="0"/>
              <a:pPr rtl="0"/>
              <a:t>18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0000795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841221E5-7225-48EB-A4EE-420E7BFCF705}" type="slidenum">
              <a:rPr lang="ru-RU" smtClean="0"/>
              <a:pPr rtl="0"/>
              <a:t>19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4583170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841221E5-7225-48EB-A4EE-420E7BFCF705}" type="slidenum">
              <a:rPr lang="ru-RU" smtClean="0"/>
              <a:pPr rtl="0"/>
              <a:t>20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424070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88825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6675" y="2404534"/>
            <a:ext cx="7764913" cy="1646302"/>
          </a:xfrm>
        </p:spPr>
        <p:txBody>
          <a:bodyPr anchor="b">
            <a:noAutofit/>
          </a:bodyPr>
          <a:lstStyle>
            <a:lvl1pPr algn="r">
              <a:defRPr sz="5398">
                <a:solidFill>
                  <a:schemeClr val="accent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6675" y="4050834"/>
            <a:ext cx="7764913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06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12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25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31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23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94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650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8E289087-3B90-4B7A-B0B3-663DF715D0C0}" type="datetime1">
              <a:rPr lang="ru-RU" smtClean="0"/>
              <a:t>20.10.2026</a:t>
            </a:fld>
            <a:endParaRPr lang="ru-R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ru-RU"/>
              <a:t>Добавить нижний колонтитул</a:t>
            </a:r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DC1BBB0-96F0-4077-A278-0F3FB5C104D3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111121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599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601BBC6F-1CE0-4655-9B16-DDAF1AD7C72C}" type="datetime1">
              <a:rPr lang="ru-RU" smtClean="0"/>
              <a:t>20.10.2026</a:t>
            </a:fld>
            <a:endParaRPr lang="ru-R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ru-RU"/>
              <a:t>Добавить нижний колонтитул</a:t>
            </a:r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DC1BBB0-96F0-4077-A278-0F3FB5C104D3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453649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159" y="2700868"/>
            <a:ext cx="8594429" cy="1826581"/>
          </a:xfrm>
        </p:spPr>
        <p:txBody>
          <a:bodyPr anchor="b"/>
          <a:lstStyle>
            <a:lvl1pPr algn="l">
              <a:defRPr sz="3999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159" y="4527448"/>
            <a:ext cx="8594429" cy="860400"/>
          </a:xfrm>
        </p:spPr>
        <p:txBody>
          <a:bodyPr anchor="t"/>
          <a:lstStyle>
            <a:lvl1pPr marL="0" indent="0" algn="l">
              <a:buNone/>
              <a:defRPr sz="1999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063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2pPr>
            <a:lvl3pPr marL="91412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8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25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31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37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44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50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4A0BB48E-C38A-489F-B21D-27EBF8DA1A52}" type="datetime1">
              <a:rPr lang="ru-RU" smtClean="0"/>
              <a:t>20.10.2026</a:t>
            </a:fld>
            <a:endParaRPr lang="ru-R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ru-RU"/>
              <a:t>Добавить нижний колонтитул</a:t>
            </a:r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DC1BBB0-96F0-4077-A278-0F3FB5C104D3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489656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158" y="2160589"/>
            <a:ext cx="4182945" cy="388077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8645" y="2160590"/>
            <a:ext cx="4182944" cy="388077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AC824002-8F04-447D-8224-40D7ED6840A4}" type="datetime1">
              <a:rPr lang="ru-RU" smtClean="0"/>
              <a:t>20.10.2026</a:t>
            </a:fld>
            <a:endParaRPr lang="ru-R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ru-RU"/>
              <a:t>Добавить нижний колонтитул</a:t>
            </a:r>
            <a:endParaRPr lang="ru-R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DC1BBB0-96F0-4077-A278-0F3FB5C104D3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807073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570" y="2160983"/>
            <a:ext cx="4184533" cy="576262"/>
          </a:xfrm>
        </p:spPr>
        <p:txBody>
          <a:bodyPr anchor="b">
            <a:noAutofit/>
          </a:bodyPr>
          <a:lstStyle>
            <a:lvl1pPr marL="0" indent="0">
              <a:buNone/>
              <a:defRPr sz="2399" b="0"/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570" y="2737246"/>
            <a:ext cx="4184533" cy="330411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7058" y="2160983"/>
            <a:ext cx="4184528" cy="576262"/>
          </a:xfrm>
        </p:spPr>
        <p:txBody>
          <a:bodyPr anchor="b">
            <a:noAutofit/>
          </a:bodyPr>
          <a:lstStyle>
            <a:lvl1pPr marL="0" indent="0">
              <a:buNone/>
              <a:defRPr sz="2399" b="0"/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7059" y="2737246"/>
            <a:ext cx="4184527" cy="330411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4A510220-7851-4877-87D8-65579BB1DD91}" type="datetime1">
              <a:rPr lang="ru-RU" smtClean="0"/>
              <a:t>20.10.2026</a:t>
            </a:fld>
            <a:endParaRPr lang="ru-RU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ru-RU"/>
              <a:t>Добавить нижний колонтитул</a:t>
            </a:r>
            <a:endParaRPr lang="ru-RU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DC1BBB0-96F0-4077-A278-0F3FB5C104D3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458903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158" y="609600"/>
            <a:ext cx="8594429" cy="132080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05D1B4D7-E962-4AD5-804D-44BB05D648F1}" type="datetime1">
              <a:rPr lang="ru-RU" smtClean="0"/>
              <a:t>20.10.2026</a:t>
            </a:fld>
            <a:endParaRPr lang="ru-R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ru-RU"/>
              <a:t>Добавить нижний колонтитул</a:t>
            </a:r>
            <a:endParaRPr lang="ru-RU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DC1BBB0-96F0-4077-A278-0F3FB5C104D3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371011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D5E49B0F-5FC4-452C-84B9-DC5DB8F7EAF7}" type="datetime1">
              <a:rPr lang="ru-RU" smtClean="0"/>
              <a:t>20.10.2026</a:t>
            </a:fld>
            <a:endParaRPr lang="ru-RU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ru-RU"/>
              <a:t>Добавить нижний колонтитул</a:t>
            </a:r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DC1BBB0-96F0-4077-A278-0F3FB5C104D3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7037590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158" y="1498604"/>
            <a:ext cx="3853524" cy="1278466"/>
          </a:xfrm>
        </p:spPr>
        <p:txBody>
          <a:bodyPr anchor="b">
            <a:normAutofit/>
          </a:bodyPr>
          <a:lstStyle>
            <a:lvl1pPr>
              <a:defRPr sz="1999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59222" y="514925"/>
            <a:ext cx="4512366" cy="552643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158" y="2777069"/>
            <a:ext cx="3853524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6926" indent="0">
              <a:buNone/>
              <a:defRPr sz="1400"/>
            </a:lvl2pPr>
            <a:lvl3pPr marL="913852" indent="0">
              <a:buNone/>
              <a:defRPr sz="1200"/>
            </a:lvl3pPr>
            <a:lvl4pPr marL="1370778" indent="0">
              <a:buNone/>
              <a:defRPr sz="1000"/>
            </a:lvl4pPr>
            <a:lvl5pPr marL="1827703" indent="0">
              <a:buNone/>
              <a:defRPr sz="1000"/>
            </a:lvl5pPr>
            <a:lvl6pPr marL="2284628" indent="0">
              <a:buNone/>
              <a:defRPr sz="1000"/>
            </a:lvl6pPr>
            <a:lvl7pPr marL="2741554" indent="0">
              <a:buNone/>
              <a:defRPr sz="1000"/>
            </a:lvl7pPr>
            <a:lvl8pPr marL="3198480" indent="0">
              <a:buNone/>
              <a:defRPr sz="1000"/>
            </a:lvl8pPr>
            <a:lvl9pPr marL="3655406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CC19F4E1-C9E2-4C86-91EE-CF98446AD814}" type="datetime1">
              <a:rPr lang="ru-RU" smtClean="0"/>
              <a:t>20.10.2026</a:t>
            </a:fld>
            <a:endParaRPr lang="ru-R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ru-RU"/>
              <a:t>Добавить нижний колонтитул</a:t>
            </a:r>
            <a:endParaRPr lang="ru-R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DC1BBB0-96F0-4077-A278-0F3FB5C104D3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359491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158" y="4800600"/>
            <a:ext cx="8594428" cy="566738"/>
          </a:xfrm>
        </p:spPr>
        <p:txBody>
          <a:bodyPr anchor="b">
            <a:normAutofit/>
          </a:bodyPr>
          <a:lstStyle>
            <a:lvl1pPr algn="l">
              <a:defRPr sz="2399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158" y="609600"/>
            <a:ext cx="8594429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063" indent="0">
              <a:buNone/>
              <a:defRPr sz="1600"/>
            </a:lvl2pPr>
            <a:lvl3pPr marL="914126" indent="0">
              <a:buNone/>
              <a:defRPr sz="1600"/>
            </a:lvl3pPr>
            <a:lvl4pPr marL="1371189" indent="0">
              <a:buNone/>
              <a:defRPr sz="1600"/>
            </a:lvl4pPr>
            <a:lvl5pPr marL="1828251" indent="0">
              <a:buNone/>
              <a:defRPr sz="1600"/>
            </a:lvl5pPr>
            <a:lvl6pPr marL="2285314" indent="0">
              <a:buNone/>
              <a:defRPr sz="1600"/>
            </a:lvl6pPr>
            <a:lvl7pPr marL="2742377" indent="0">
              <a:buNone/>
              <a:defRPr sz="1600"/>
            </a:lvl7pPr>
            <a:lvl8pPr marL="3199440" indent="0">
              <a:buNone/>
              <a:defRPr sz="1600"/>
            </a:lvl8pPr>
            <a:lvl9pPr marL="3656503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158" y="5367338"/>
            <a:ext cx="8594428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063" indent="0">
              <a:buNone/>
              <a:defRPr sz="1200"/>
            </a:lvl2pPr>
            <a:lvl3pPr marL="914126" indent="0">
              <a:buNone/>
              <a:defRPr sz="1000"/>
            </a:lvl3pPr>
            <a:lvl4pPr marL="1371189" indent="0">
              <a:buNone/>
              <a:defRPr sz="900"/>
            </a:lvl4pPr>
            <a:lvl5pPr marL="1828251" indent="0">
              <a:buNone/>
              <a:defRPr sz="900"/>
            </a:lvl5pPr>
            <a:lvl6pPr marL="2285314" indent="0">
              <a:buNone/>
              <a:defRPr sz="900"/>
            </a:lvl6pPr>
            <a:lvl7pPr marL="2742377" indent="0">
              <a:buNone/>
              <a:defRPr sz="900"/>
            </a:lvl7pPr>
            <a:lvl8pPr marL="3199440" indent="0">
              <a:buNone/>
              <a:defRPr sz="900"/>
            </a:lvl8pPr>
            <a:lvl9pPr marL="3656503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C544DC91-F540-462A-9952-3A556B4DB6D1}" type="datetime1">
              <a:rPr lang="ru-RU" smtClean="0"/>
              <a:t>20.10.2026</a:t>
            </a:fld>
            <a:endParaRPr lang="ru-R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ru-RU"/>
              <a:t>Добавить нижний колонтитул</a:t>
            </a:r>
            <a:endParaRPr lang="ru-R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DC1BBB0-96F0-4077-A278-0F3FB5C104D3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306435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159" y="609600"/>
            <a:ext cx="8594429" cy="3403600"/>
          </a:xfrm>
        </p:spPr>
        <p:txBody>
          <a:bodyPr anchor="ctr">
            <a:normAutofit/>
          </a:bodyPr>
          <a:lstStyle>
            <a:lvl1pPr algn="l">
              <a:defRPr sz="4399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159" y="4470400"/>
            <a:ext cx="8594429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799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063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2pPr>
            <a:lvl3pPr marL="91412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8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25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31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37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44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50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A4F087A6-40E8-4131-BEAB-4F5033CC1517}" type="datetime1">
              <a:rPr lang="ru-RU" smtClean="0"/>
              <a:t>20.10.2026</a:t>
            </a:fld>
            <a:endParaRPr lang="ru-R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ru-RU"/>
              <a:t>Добавить нижний колонтитул</a:t>
            </a:r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DC1BBB0-96F0-4077-A278-0F3FB5C104D3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16378732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092" y="609600"/>
            <a:ext cx="8092026" cy="3022600"/>
          </a:xfrm>
        </p:spPr>
        <p:txBody>
          <a:bodyPr anchor="ctr">
            <a:normAutofit/>
          </a:bodyPr>
          <a:lstStyle>
            <a:lvl1pPr algn="l">
              <a:defRPr sz="4399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5783" y="3632200"/>
            <a:ext cx="7222643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063" indent="0">
              <a:buFontTx/>
              <a:buNone/>
              <a:defRPr/>
            </a:lvl2pPr>
            <a:lvl3pPr marL="914126" indent="0">
              <a:buFontTx/>
              <a:buNone/>
              <a:defRPr/>
            </a:lvl3pPr>
            <a:lvl4pPr marL="1371189" indent="0">
              <a:buFontTx/>
              <a:buNone/>
              <a:defRPr/>
            </a:lvl4pPr>
            <a:lvl5pPr marL="1828251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159" y="4470400"/>
            <a:ext cx="8594429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799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063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2pPr>
            <a:lvl3pPr marL="91412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8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25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31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37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44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50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A4F087A6-40E8-4131-BEAB-4F5033CC1517}" type="datetime1">
              <a:rPr lang="ru-RU" smtClean="0"/>
              <a:t>20.10.2026</a:t>
            </a:fld>
            <a:endParaRPr lang="ru-R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ru-RU"/>
              <a:t>Добавить нижний колонтитул</a:t>
            </a:r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DC1BBB0-96F0-4077-A278-0F3FB5C104D3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0" name="TextBox 19"/>
          <p:cNvSpPr txBox="1"/>
          <p:nvPr/>
        </p:nvSpPr>
        <p:spPr>
          <a:xfrm>
            <a:off x="541729" y="790378"/>
            <a:ext cx="609441" cy="584776"/>
          </a:xfrm>
          <a:prstGeom prst="rect">
            <a:avLst/>
          </a:prstGeom>
        </p:spPr>
        <p:txBody>
          <a:bodyPr vert="horz" lIns="91416" tIns="45708" rIns="91416" bIns="45708" rtlCol="0" anchor="ctr">
            <a:noAutofit/>
          </a:bodyPr>
          <a:lstStyle/>
          <a:p>
            <a:pPr lvl="0"/>
            <a:r>
              <a:rPr lang="en-US" sz="7998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0695" y="2886556"/>
            <a:ext cx="609441" cy="584776"/>
          </a:xfrm>
          <a:prstGeom prst="rect">
            <a:avLst/>
          </a:prstGeom>
        </p:spPr>
        <p:txBody>
          <a:bodyPr vert="horz" lIns="91416" tIns="45708" rIns="91416" bIns="45708" rtlCol="0" anchor="ctr">
            <a:noAutofit/>
          </a:bodyPr>
          <a:lstStyle/>
          <a:p>
            <a:pPr lvl="0"/>
            <a:r>
              <a:rPr lang="en-US" sz="7998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sz="1799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92315734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159" y="1931988"/>
            <a:ext cx="8594429" cy="2595460"/>
          </a:xfrm>
        </p:spPr>
        <p:txBody>
          <a:bodyPr anchor="b">
            <a:normAutofit/>
          </a:bodyPr>
          <a:lstStyle>
            <a:lvl1pPr algn="l">
              <a:defRPr sz="4399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159" y="4527448"/>
            <a:ext cx="8594429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799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063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2pPr>
            <a:lvl3pPr marL="91412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8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25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31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37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44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50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A4F087A6-40E8-4131-BEAB-4F5033CC1517}" type="datetime1">
              <a:rPr lang="ru-RU" smtClean="0"/>
              <a:t>20.10.2026</a:t>
            </a:fld>
            <a:endParaRPr lang="ru-R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ru-RU"/>
              <a:t>Добавить нижний колонтитул</a:t>
            </a:r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DC1BBB0-96F0-4077-A278-0F3FB5C104D3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6266456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092" y="609600"/>
            <a:ext cx="8092026" cy="3022600"/>
          </a:xfrm>
        </p:spPr>
        <p:txBody>
          <a:bodyPr anchor="ctr">
            <a:normAutofit/>
          </a:bodyPr>
          <a:lstStyle>
            <a:lvl1pPr algn="l">
              <a:defRPr sz="4399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156" y="4013200"/>
            <a:ext cx="8594430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399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063" indent="0">
              <a:buFontTx/>
              <a:buNone/>
              <a:defRPr/>
            </a:lvl2pPr>
            <a:lvl3pPr marL="914126" indent="0">
              <a:buFontTx/>
              <a:buNone/>
              <a:defRPr/>
            </a:lvl3pPr>
            <a:lvl4pPr marL="1371189" indent="0">
              <a:buFontTx/>
              <a:buNone/>
              <a:defRPr/>
            </a:lvl4pPr>
            <a:lvl5pPr marL="1828251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159" y="4527448"/>
            <a:ext cx="8594429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799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063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2pPr>
            <a:lvl3pPr marL="91412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8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25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31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37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44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50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A4F087A6-40E8-4131-BEAB-4F5033CC1517}" type="datetime1">
              <a:rPr lang="ru-RU" smtClean="0"/>
              <a:t>20.10.2026</a:t>
            </a:fld>
            <a:endParaRPr lang="ru-R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ru-RU"/>
              <a:t>Добавить нижний колонтитул</a:t>
            </a:r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DC1BBB0-96F0-4077-A278-0F3FB5C104D3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4" name="TextBox 23"/>
          <p:cNvSpPr txBox="1"/>
          <p:nvPr/>
        </p:nvSpPr>
        <p:spPr>
          <a:xfrm>
            <a:off x="541729" y="790378"/>
            <a:ext cx="609441" cy="584776"/>
          </a:xfrm>
          <a:prstGeom prst="rect">
            <a:avLst/>
          </a:prstGeom>
        </p:spPr>
        <p:txBody>
          <a:bodyPr vert="horz" lIns="91416" tIns="45708" rIns="91416" bIns="45708" rtlCol="0" anchor="ctr">
            <a:noAutofit/>
          </a:bodyPr>
          <a:lstStyle/>
          <a:p>
            <a:pPr lvl="0"/>
            <a:r>
              <a:rPr lang="en-US" sz="7998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0695" y="2886556"/>
            <a:ext cx="609441" cy="584776"/>
          </a:xfrm>
          <a:prstGeom prst="rect">
            <a:avLst/>
          </a:prstGeom>
        </p:spPr>
        <p:txBody>
          <a:bodyPr vert="horz" lIns="91416" tIns="45708" rIns="91416" bIns="45708" rtlCol="0" anchor="ctr">
            <a:noAutofit/>
          </a:bodyPr>
          <a:lstStyle/>
          <a:p>
            <a:pPr lvl="0"/>
            <a:r>
              <a:rPr lang="en-US" sz="7998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936046826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621" y="609600"/>
            <a:ext cx="8585966" cy="3022600"/>
          </a:xfrm>
        </p:spPr>
        <p:txBody>
          <a:bodyPr anchor="ctr">
            <a:normAutofit/>
          </a:bodyPr>
          <a:lstStyle>
            <a:lvl1pPr algn="l">
              <a:defRPr sz="4399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156" y="4013200"/>
            <a:ext cx="8594430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399">
                <a:solidFill>
                  <a:schemeClr val="accent1"/>
                </a:solidFill>
              </a:defRPr>
            </a:lvl1pPr>
            <a:lvl2pPr marL="457063" indent="0">
              <a:buFontTx/>
              <a:buNone/>
              <a:defRPr/>
            </a:lvl2pPr>
            <a:lvl3pPr marL="914126" indent="0">
              <a:buFontTx/>
              <a:buNone/>
              <a:defRPr/>
            </a:lvl3pPr>
            <a:lvl4pPr marL="1371189" indent="0">
              <a:buFontTx/>
              <a:buNone/>
              <a:defRPr/>
            </a:lvl4pPr>
            <a:lvl5pPr marL="1828251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159" y="4527448"/>
            <a:ext cx="8594429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799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063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2pPr>
            <a:lvl3pPr marL="91412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8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25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31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37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44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50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A4F087A6-40E8-4131-BEAB-4F5033CC1517}" type="datetime1">
              <a:rPr lang="ru-RU" smtClean="0"/>
              <a:t>20.10.2026</a:t>
            </a:fld>
            <a:endParaRPr lang="ru-R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ru-RU"/>
              <a:t>Добавить нижний колонтитул</a:t>
            </a:r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DC1BBB0-96F0-4077-A278-0F3FB5C104D3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54438428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5F076F26-008E-40CD-B0DF-FD99CADBA164}" type="datetime1">
              <a:rPr lang="ru-RU" smtClean="0"/>
              <a:t>20.10.2026</a:t>
            </a:fld>
            <a:endParaRPr lang="ru-R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ru-RU"/>
              <a:t>Добавить нижний колонтитул</a:t>
            </a:r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DC1BBB0-96F0-4077-A278-0F3FB5C104D3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038043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5599" y="609600"/>
            <a:ext cx="1304403" cy="5251451"/>
          </a:xfrm>
        </p:spPr>
        <p:txBody>
          <a:bodyPr vert="eaVert" anchor="ctr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159" y="609600"/>
            <a:ext cx="7058311" cy="5251450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DB20A7CE-0912-4C2F-926E-0DDC0C423B66}" type="datetime1">
              <a:rPr lang="ru-RU" smtClean="0"/>
              <a:t>20.10.2026</a:t>
            </a:fld>
            <a:endParaRPr lang="ru-R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ru-RU"/>
              <a:t>Добавить нижний колонтитул</a:t>
            </a:r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DC1BBB0-96F0-4077-A278-0F3FB5C104D3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580012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88825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158" y="609600"/>
            <a:ext cx="8594429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158" y="2160590"/>
            <a:ext cx="8594429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3257" y="6041363"/>
            <a:ext cx="91170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A4F087A6-40E8-4131-BEAB-4F5033CC1517}" type="datetime1">
              <a:rPr lang="ru-RU" smtClean="0"/>
              <a:t>20.10.2026</a:t>
            </a:fld>
            <a:endParaRPr lang="ru-R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158" y="6041363"/>
            <a:ext cx="629597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r>
              <a:rPr lang="ru-RU"/>
              <a:t>Добавить нижний колонтитул</a:t>
            </a:r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88426" y="6041363"/>
            <a:ext cx="68316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pPr rtl="0"/>
            <a:fld id="{7DC1BBB0-96F0-4077-A278-0F3FB5C104D3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853786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66" r:id="rId1"/>
    <p:sldLayoutId id="2147483867" r:id="rId2"/>
    <p:sldLayoutId id="2147483868" r:id="rId3"/>
    <p:sldLayoutId id="2147483869" r:id="rId4"/>
    <p:sldLayoutId id="2147483870" r:id="rId5"/>
    <p:sldLayoutId id="2147483871" r:id="rId6"/>
    <p:sldLayoutId id="2147483872" r:id="rId7"/>
    <p:sldLayoutId id="2147483873" r:id="rId8"/>
    <p:sldLayoutId id="2147483874" r:id="rId9"/>
    <p:sldLayoutId id="2147483875" r:id="rId10"/>
    <p:sldLayoutId id="2147483876" r:id="rId11"/>
    <p:sldLayoutId id="2147483877" r:id="rId12"/>
    <p:sldLayoutId id="2147483878" r:id="rId13"/>
    <p:sldLayoutId id="2147483879" r:id="rId14"/>
    <p:sldLayoutId id="2147483880" r:id="rId15"/>
    <p:sldLayoutId id="2147483881" r:id="rId16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algn="l" defTabSz="457063" rtl="0" eaLnBrk="1" latinLnBrk="0" hangingPunct="1">
        <a:spcBef>
          <a:spcPct val="0"/>
        </a:spcBef>
        <a:buNone/>
        <a:defRPr sz="3599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797" indent="-342797" algn="l" defTabSz="457063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799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727" indent="-285664" algn="l" defTabSz="457063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2657" indent="-228531" algn="l" defTabSz="457063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599720" indent="-228531" algn="l" defTabSz="457063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6783" indent="-228531" algn="l" defTabSz="457063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3846" indent="-228531" algn="l" defTabSz="457063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0908" indent="-228531" algn="l" defTabSz="457063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7971" indent="-228531" algn="l" defTabSz="457063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5034" indent="-228531" algn="l" defTabSz="457063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7063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4126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1189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8251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5314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2377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199440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6503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3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Oftobcom/hbs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Oftobcom/hbs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773932" y="1052736"/>
            <a:ext cx="7497657" cy="1917980"/>
          </a:xfrm>
        </p:spPr>
        <p:txBody>
          <a:bodyPr rtlCol="0"/>
          <a:lstStyle/>
          <a:p>
            <a:r>
              <a:rPr lang="ru-RU" sz="3600" b="1" dirty="0" err="1"/>
              <a:t>Моделсозӣ</a:t>
            </a:r>
            <a:r>
              <a:rPr lang="ru-RU" sz="3600" b="1" dirty="0"/>
              <a:t> </a:t>
            </a:r>
            <a:r>
              <a:rPr lang="ru-RU" sz="3600" b="1" dirty="0" err="1"/>
              <a:t>бо</a:t>
            </a:r>
            <a:r>
              <a:rPr lang="ru-RU" sz="3600" b="1" dirty="0"/>
              <a:t> </a:t>
            </a:r>
            <a:r>
              <a:rPr lang="ru-RU" sz="3600" b="1" dirty="0" err="1"/>
              <a:t>зеҳни</a:t>
            </a:r>
            <a:r>
              <a:rPr lang="ru-RU" sz="3600" b="1" dirty="0"/>
              <a:t> </a:t>
            </a:r>
            <a:r>
              <a:rPr lang="ru-RU" sz="3600" b="1" dirty="0" err="1"/>
              <a:t>сунъӣ</a:t>
            </a:r>
            <a:r>
              <a:rPr lang="ru-RU" sz="3600" b="1" dirty="0"/>
              <a:t> </a:t>
            </a:r>
            <a:r>
              <a:rPr lang="ru-RU" sz="3600" b="1" dirty="0" err="1"/>
              <a:t>барои</a:t>
            </a:r>
            <a:r>
              <a:rPr lang="ru-RU" sz="3600" b="1" dirty="0"/>
              <a:t> </a:t>
            </a:r>
            <a:r>
              <a:rPr lang="ru-RU" sz="3600" b="1" dirty="0" err="1"/>
              <a:t>дугоники</a:t>
            </a:r>
            <a:r>
              <a:rPr lang="ru-RU" sz="3600" b="1" dirty="0"/>
              <a:t> </a:t>
            </a:r>
            <a:r>
              <a:rPr lang="ru-RU" sz="3600" b="1" dirty="0" err="1"/>
              <a:t>рақамии</a:t>
            </a:r>
            <a:r>
              <a:rPr lang="ru-RU" sz="3600" b="1" dirty="0"/>
              <a:t> </a:t>
            </a:r>
            <a:r>
              <a:rPr lang="ru-RU" sz="3600" b="1" dirty="0" err="1"/>
              <a:t>бемор</a:t>
            </a:r>
            <a:r>
              <a:rPr lang="ru-RU" sz="3600" b="1" dirty="0"/>
              <a:t> дар </a:t>
            </a:r>
            <a:r>
              <a:rPr lang="ru-RU" sz="3600" b="1" dirty="0" err="1"/>
              <a:t>тибби</a:t>
            </a:r>
            <a:r>
              <a:rPr lang="ru-RU" sz="3600" b="1" dirty="0"/>
              <a:t> </a:t>
            </a:r>
            <a:r>
              <a:rPr lang="ru-RU" sz="3600" b="1" dirty="0" err="1"/>
              <a:t>фардӣ</a:t>
            </a:r>
            <a:r>
              <a:rPr lang="ru-RU" sz="3600" b="1" dirty="0"/>
              <a:t> 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4294212" y="3501008"/>
            <a:ext cx="4977377" cy="1096899"/>
          </a:xfrm>
        </p:spPr>
        <p:txBody>
          <a:bodyPr rtlCol="0">
            <a:noAutofit/>
          </a:bodyPr>
          <a:lstStyle/>
          <a:p>
            <a:r>
              <a:rPr lang="ru-RU" sz="2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Истифодаи</a:t>
            </a:r>
            <a:r>
              <a:rPr lang="ru-RU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ru-RU" sz="2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моделсозии</a:t>
            </a:r>
            <a:r>
              <a:rPr lang="ru-RU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ru-RU" sz="2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риёзӣ</a:t>
            </a:r>
            <a:r>
              <a:rPr lang="ru-RU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ru-RU" sz="2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ва</a:t>
            </a:r>
            <a:r>
              <a:rPr lang="ru-RU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ru-RU" sz="2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зеҳни</a:t>
            </a:r>
            <a:r>
              <a:rPr lang="ru-RU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ru-RU" sz="2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сунъӣ</a:t>
            </a:r>
            <a:r>
              <a:rPr lang="ru-RU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ru-RU" sz="2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барои</a:t>
            </a:r>
            <a:r>
              <a:rPr lang="ru-RU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ru-RU" sz="2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нигаҳдории</a:t>
            </a:r>
            <a:r>
              <a:rPr lang="ru-RU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ru-RU" sz="2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тандурустӣ</a:t>
            </a:r>
            <a:endParaRPr lang="ru-RU" sz="2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Подзаголовок 2">
            <a:extLst>
              <a:ext uri="{FF2B5EF4-FFF2-40B4-BE49-F238E27FC236}">
                <a16:creationId xmlns:a16="http://schemas.microsoft.com/office/drawing/2014/main" id="{1E93FC99-B8F2-4E3F-8C89-E5AF3E8ED17B}"/>
              </a:ext>
            </a:extLst>
          </p:cNvPr>
          <p:cNvSpPr txBox="1">
            <a:spLocks/>
          </p:cNvSpPr>
          <p:nvPr/>
        </p:nvSpPr>
        <p:spPr>
          <a:xfrm>
            <a:off x="1528205" y="5284429"/>
            <a:ext cx="7764913" cy="109689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r" defTabSz="457063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799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063" indent="0" algn="ctr" defTabSz="457063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126" indent="0" algn="ctr" defTabSz="457063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189" indent="0" algn="ctr" defTabSz="457063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251" indent="0" algn="ctr" defTabSz="457063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5314" indent="0" algn="ctr" defTabSz="457063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2377" indent="0" algn="ctr" defTabSz="457063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199440" indent="0" algn="ctr" defTabSz="457063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6503" indent="0" algn="ctr" defTabSz="457063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tg-Cyrl-TJ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Р</a:t>
            </a:r>
            <a:r>
              <a:rPr lang="ru-RU" sz="2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аҳматҷон</a:t>
            </a:r>
            <a:r>
              <a:rPr lang="ru-RU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ru-RU" sz="2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Ҳакимов</a:t>
            </a:r>
            <a:endParaRPr lang="ru-RU" sz="2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067614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Заголовок 12"/>
          <p:cNvSpPr>
            <a:spLocks noGrp="1"/>
          </p:cNvSpPr>
          <p:nvPr>
            <p:ph type="title"/>
          </p:nvPr>
        </p:nvSpPr>
        <p:spPr>
          <a:xfrm>
            <a:off x="677158" y="260648"/>
            <a:ext cx="8594429" cy="1320800"/>
          </a:xfrm>
        </p:spPr>
        <p:txBody>
          <a:bodyPr rtlCol="0">
            <a:normAutofit/>
          </a:bodyPr>
          <a:lstStyle/>
          <a:p>
            <a:r>
              <a:rPr lang="ru-RU" sz="3200" dirty="0" err="1"/>
              <a:t>Мушкилот</a:t>
            </a:r>
            <a:r>
              <a:rPr lang="ru-RU" sz="3200" dirty="0"/>
              <a:t>: </a:t>
            </a:r>
            <a:r>
              <a:rPr lang="ru-RU" sz="3200" dirty="0" err="1"/>
              <a:t>Маҳдудиятҳои</a:t>
            </a:r>
            <a:r>
              <a:rPr lang="ru-RU" sz="3200" dirty="0"/>
              <a:t> </a:t>
            </a:r>
            <a:r>
              <a:rPr lang="ru-RU" sz="3200" dirty="0" err="1"/>
              <a:t>тибби</a:t>
            </a:r>
            <a:r>
              <a:rPr lang="ru-RU" sz="3200" dirty="0"/>
              <a:t> </a:t>
            </a:r>
            <a:r>
              <a:rPr lang="ru-RU" sz="3200" dirty="0" err="1"/>
              <a:t>стандартӣ</a:t>
            </a:r>
            <a:endParaRPr lang="ru-RU" sz="3200" dirty="0"/>
          </a:p>
        </p:txBody>
      </p:sp>
      <p:sp>
        <p:nvSpPr>
          <p:cNvPr id="14" name="Объект 13"/>
          <p:cNvSpPr>
            <a:spLocks noGrp="1"/>
          </p:cNvSpPr>
          <p:nvPr>
            <p:ph idx="1"/>
          </p:nvPr>
        </p:nvSpPr>
        <p:spPr>
          <a:xfrm>
            <a:off x="677158" y="1628800"/>
            <a:ext cx="8594429" cy="3880773"/>
          </a:xfrm>
        </p:spPr>
        <p:txBody>
          <a:bodyPr rtlCol="0">
            <a:normAutofit/>
          </a:bodyPr>
          <a:lstStyle/>
          <a:p>
            <a:r>
              <a:rPr lang="ru-RU" sz="2400" dirty="0" err="1"/>
              <a:t>Усулҳои</a:t>
            </a:r>
            <a:r>
              <a:rPr lang="ru-RU" sz="2400" dirty="0"/>
              <a:t> </a:t>
            </a:r>
            <a:r>
              <a:rPr lang="ru-RU" sz="2400" dirty="0" err="1"/>
              <a:t>табобати</a:t>
            </a:r>
            <a:r>
              <a:rPr lang="ru-RU" sz="2400" dirty="0"/>
              <a:t> «як </a:t>
            </a:r>
            <a:r>
              <a:rPr lang="ru-RU" sz="2400" dirty="0" err="1"/>
              <a:t>қолаб</a:t>
            </a:r>
            <a:r>
              <a:rPr lang="ru-RU" sz="2400" dirty="0"/>
              <a:t> </a:t>
            </a:r>
            <a:r>
              <a:rPr lang="ru-RU" sz="2400" dirty="0" err="1"/>
              <a:t>барои</a:t>
            </a:r>
            <a:r>
              <a:rPr lang="ru-RU" sz="2400" dirty="0"/>
              <a:t> </a:t>
            </a:r>
            <a:r>
              <a:rPr lang="ru-RU" sz="2400" dirty="0" err="1"/>
              <a:t>ҳама</a:t>
            </a:r>
            <a:r>
              <a:rPr lang="ru-RU" sz="2400" dirty="0"/>
              <a:t>» (</a:t>
            </a:r>
            <a:r>
              <a:rPr lang="en-US" sz="2400" dirty="0"/>
              <a:t>one-size-fits-all).</a:t>
            </a:r>
          </a:p>
          <a:p>
            <a:r>
              <a:rPr lang="ru-RU" sz="2400" dirty="0" err="1"/>
              <a:t>Нотавонӣ</a:t>
            </a:r>
            <a:r>
              <a:rPr lang="ru-RU" sz="2400" dirty="0"/>
              <a:t> дар </a:t>
            </a:r>
            <a:r>
              <a:rPr lang="ru-RU" sz="2400" dirty="0" err="1"/>
              <a:t>пешгӯии</a:t>
            </a:r>
            <a:r>
              <a:rPr lang="ru-RU" sz="2400" dirty="0"/>
              <a:t> </a:t>
            </a:r>
            <a:r>
              <a:rPr lang="ru-RU" sz="2400" dirty="0" err="1"/>
              <a:t>вокуниши</a:t>
            </a:r>
            <a:r>
              <a:rPr lang="ru-RU" sz="2400" dirty="0"/>
              <a:t> </a:t>
            </a:r>
            <a:r>
              <a:rPr lang="ru-RU" sz="2400" dirty="0" err="1"/>
              <a:t>инфиродии</a:t>
            </a:r>
            <a:r>
              <a:rPr lang="ru-RU" sz="2400" dirty="0"/>
              <a:t> </a:t>
            </a:r>
            <a:r>
              <a:rPr lang="ru-RU" sz="2400" dirty="0" err="1"/>
              <a:t>бемор</a:t>
            </a:r>
            <a:r>
              <a:rPr lang="ru-RU" sz="2400" dirty="0"/>
              <a:t> ба </a:t>
            </a:r>
            <a:r>
              <a:rPr lang="ru-RU" sz="2400" dirty="0" err="1"/>
              <a:t>табобатҳои</a:t>
            </a:r>
            <a:r>
              <a:rPr lang="ru-RU" sz="2400" dirty="0"/>
              <a:t> </a:t>
            </a:r>
            <a:r>
              <a:rPr lang="ru-RU" sz="2400" dirty="0" err="1"/>
              <a:t>мураккаб</a:t>
            </a:r>
            <a:r>
              <a:rPr lang="ru-RU" sz="2400" dirty="0"/>
              <a:t>.</a:t>
            </a:r>
            <a:endParaRPr lang="en-US" sz="2400" dirty="0"/>
          </a:p>
          <a:p>
            <a:r>
              <a:rPr lang="ru-RU" sz="2400" dirty="0" err="1"/>
              <a:t>Мушкилӣ</a:t>
            </a:r>
            <a:r>
              <a:rPr lang="ru-RU" sz="2400" dirty="0"/>
              <a:t> дар </a:t>
            </a:r>
            <a:r>
              <a:rPr lang="ru-RU" sz="2400" dirty="0" err="1"/>
              <a:t>табдил</a:t>
            </a:r>
            <a:r>
              <a:rPr lang="ru-RU" sz="2400" dirty="0"/>
              <a:t> </a:t>
            </a:r>
            <a:r>
              <a:rPr lang="ru-RU" sz="2400" dirty="0" err="1"/>
              <a:t>додани</a:t>
            </a:r>
            <a:r>
              <a:rPr lang="ru-RU" sz="2400" dirty="0"/>
              <a:t> </a:t>
            </a:r>
            <a:r>
              <a:rPr lang="ru-RU" sz="2400" dirty="0" err="1"/>
              <a:t>маълумоти</a:t>
            </a:r>
            <a:r>
              <a:rPr lang="ru-RU" sz="2400" dirty="0"/>
              <a:t> </a:t>
            </a:r>
            <a:r>
              <a:rPr lang="ru-RU" sz="2400" dirty="0" err="1"/>
              <a:t>бемор</a:t>
            </a:r>
            <a:r>
              <a:rPr lang="ru-RU" sz="2400" dirty="0"/>
              <a:t> ба </a:t>
            </a:r>
            <a:r>
              <a:rPr lang="ru-RU" sz="2400" dirty="0" err="1"/>
              <a:t>нақшаҳои</a:t>
            </a:r>
            <a:r>
              <a:rPr lang="ru-RU" sz="2400" dirty="0"/>
              <a:t> </a:t>
            </a:r>
            <a:r>
              <a:rPr lang="ru-RU" sz="2400" dirty="0" err="1"/>
              <a:t>самарабахши</a:t>
            </a:r>
            <a:r>
              <a:rPr lang="ru-RU" sz="2400" dirty="0"/>
              <a:t> </a:t>
            </a:r>
            <a:r>
              <a:rPr lang="ru-RU" sz="2400" dirty="0" err="1"/>
              <a:t>табобат</a:t>
            </a:r>
            <a:r>
              <a:rPr lang="ru-RU" sz="2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7204263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Заголовок 12"/>
          <p:cNvSpPr>
            <a:spLocks noGrp="1"/>
          </p:cNvSpPr>
          <p:nvPr>
            <p:ph type="title"/>
          </p:nvPr>
        </p:nvSpPr>
        <p:spPr>
          <a:xfrm>
            <a:off x="677158" y="260648"/>
            <a:ext cx="8594429" cy="1320800"/>
          </a:xfrm>
        </p:spPr>
        <p:txBody>
          <a:bodyPr rtlCol="0">
            <a:normAutofit/>
          </a:bodyPr>
          <a:lstStyle/>
          <a:p>
            <a:r>
              <a:rPr lang="ru-RU" sz="3200" dirty="0" err="1"/>
              <a:t>Дугоники</a:t>
            </a:r>
            <a:r>
              <a:rPr lang="ru-RU" sz="3200" dirty="0"/>
              <a:t> </a:t>
            </a:r>
            <a:r>
              <a:rPr lang="ru-RU" sz="3200" dirty="0" err="1"/>
              <a:t>рақамии</a:t>
            </a:r>
            <a:r>
              <a:rPr lang="ru-RU" sz="3200" dirty="0"/>
              <a:t> </a:t>
            </a:r>
            <a:r>
              <a:rPr lang="en-US" sz="3200" dirty="0"/>
              <a:t>Homo sapiens</a:t>
            </a:r>
            <a:endParaRPr lang="ru-RU" sz="3200" dirty="0"/>
          </a:p>
        </p:txBody>
      </p:sp>
      <p:sp>
        <p:nvSpPr>
          <p:cNvPr id="14" name="Объект 13"/>
          <p:cNvSpPr>
            <a:spLocks noGrp="1"/>
          </p:cNvSpPr>
          <p:nvPr>
            <p:ph idx="1"/>
          </p:nvPr>
        </p:nvSpPr>
        <p:spPr>
          <a:xfrm>
            <a:off x="677158" y="1556792"/>
            <a:ext cx="8594429" cy="3880773"/>
          </a:xfrm>
        </p:spPr>
        <p:txBody>
          <a:bodyPr rtlCol="0">
            <a:normAutofit/>
          </a:bodyPr>
          <a:lstStyle/>
          <a:p>
            <a:r>
              <a:rPr lang="ru-RU" sz="2400" b="1" dirty="0" err="1"/>
              <a:t>Таъриф</a:t>
            </a:r>
            <a:r>
              <a:rPr lang="ru-RU" sz="2400" b="1" dirty="0"/>
              <a:t>:</a:t>
            </a:r>
            <a:r>
              <a:rPr lang="ru-RU" sz="2400" dirty="0"/>
              <a:t> «</a:t>
            </a:r>
            <a:r>
              <a:rPr lang="ru-RU" sz="2400" dirty="0" err="1"/>
              <a:t>Дугоники</a:t>
            </a:r>
            <a:r>
              <a:rPr lang="ru-RU" sz="2400" dirty="0"/>
              <a:t> </a:t>
            </a:r>
            <a:r>
              <a:rPr lang="ru-RU" sz="2400" dirty="0" err="1"/>
              <a:t>рақамии</a:t>
            </a:r>
            <a:r>
              <a:rPr lang="ru-RU" sz="2400" dirty="0"/>
              <a:t> </a:t>
            </a:r>
            <a:r>
              <a:rPr lang="ru-RU" sz="2400" dirty="0" err="1"/>
              <a:t>бемор</a:t>
            </a:r>
            <a:r>
              <a:rPr lang="ru-RU" sz="2400" dirty="0"/>
              <a:t>» — ин </a:t>
            </a:r>
            <a:r>
              <a:rPr lang="ru-RU" sz="2400" b="1" dirty="0"/>
              <a:t>модели </a:t>
            </a:r>
            <a:r>
              <a:rPr lang="ru-RU" sz="2400" b="1" dirty="0" err="1"/>
              <a:t>компютерии</a:t>
            </a:r>
            <a:r>
              <a:rPr lang="ru-RU" sz="2400" b="1" dirty="0"/>
              <a:t> </a:t>
            </a:r>
            <a:r>
              <a:rPr lang="ru-RU" sz="2400" b="1" dirty="0" err="1"/>
              <a:t>инфиродӣ</a:t>
            </a:r>
            <a:r>
              <a:rPr lang="ru-RU" sz="2400" dirty="0"/>
              <a:t> </a:t>
            </a:r>
            <a:r>
              <a:rPr lang="ru-RU" sz="2400" dirty="0" err="1"/>
              <a:t>мебошад</a:t>
            </a:r>
            <a:r>
              <a:rPr lang="ru-RU" sz="2400" dirty="0"/>
              <a:t>, </a:t>
            </a:r>
            <a:r>
              <a:rPr lang="ru-RU" sz="2400" dirty="0" err="1"/>
              <a:t>ки</a:t>
            </a:r>
            <a:r>
              <a:rPr lang="ru-RU" sz="2400" dirty="0"/>
              <a:t> </a:t>
            </a:r>
            <a:r>
              <a:rPr lang="ru-RU" sz="2400" dirty="0" err="1"/>
              <a:t>маълумоти</a:t>
            </a:r>
            <a:r>
              <a:rPr lang="ru-RU" sz="2400" dirty="0"/>
              <a:t> биологии </a:t>
            </a:r>
            <a:r>
              <a:rPr lang="ru-RU" sz="2400" dirty="0" err="1"/>
              <a:t>шахсро</a:t>
            </a:r>
            <a:r>
              <a:rPr lang="ru-RU" sz="2400" dirty="0"/>
              <a:t> (</a:t>
            </a:r>
            <a:r>
              <a:rPr lang="ru-RU" sz="2400" dirty="0" err="1"/>
              <a:t>геномӣ</a:t>
            </a:r>
            <a:r>
              <a:rPr lang="ru-RU" sz="2400" dirty="0"/>
              <a:t>, </a:t>
            </a:r>
            <a:r>
              <a:rPr lang="ru-RU" sz="2400" dirty="0" err="1"/>
              <a:t>физиологӣ</a:t>
            </a:r>
            <a:r>
              <a:rPr lang="ru-RU" sz="2400" dirty="0"/>
              <a:t>, </a:t>
            </a:r>
            <a:r>
              <a:rPr lang="ru-RU" sz="2400" dirty="0" err="1"/>
              <a:t>клиникӣ</a:t>
            </a:r>
            <a:r>
              <a:rPr lang="ru-RU" sz="2400" dirty="0"/>
              <a:t>) ба як </a:t>
            </a:r>
            <a:r>
              <a:rPr lang="ru-RU" sz="2400" dirty="0" err="1"/>
              <a:t>системаи</a:t>
            </a:r>
            <a:r>
              <a:rPr lang="ru-RU" sz="2400" dirty="0"/>
              <a:t> </a:t>
            </a:r>
            <a:r>
              <a:rPr lang="ru-RU" sz="2400" dirty="0" err="1"/>
              <a:t>динамикӣ</a:t>
            </a:r>
            <a:r>
              <a:rPr lang="ru-RU" sz="2400" dirty="0"/>
              <a:t> </a:t>
            </a:r>
            <a:r>
              <a:rPr lang="ru-RU" sz="2400" dirty="0" err="1"/>
              <a:t>муттаҳид</a:t>
            </a:r>
            <a:r>
              <a:rPr lang="ru-RU" sz="2400" dirty="0"/>
              <a:t> </a:t>
            </a:r>
            <a:r>
              <a:rPr lang="ru-RU" sz="2400" dirty="0" err="1"/>
              <a:t>мекунад</a:t>
            </a:r>
            <a:r>
              <a:rPr lang="ru-RU" sz="2400" dirty="0"/>
              <a:t>.</a:t>
            </a:r>
          </a:p>
          <a:p>
            <a:r>
              <a:rPr lang="ru-RU" sz="2400" b="1" dirty="0" err="1"/>
              <a:t>Вазифаи</a:t>
            </a:r>
            <a:r>
              <a:rPr lang="ru-RU" sz="2400" b="1" dirty="0"/>
              <a:t> </a:t>
            </a:r>
            <a:r>
              <a:rPr lang="ru-RU" sz="2400" b="1" dirty="0" err="1"/>
              <a:t>асосӣ</a:t>
            </a:r>
            <a:r>
              <a:rPr lang="ru-RU" sz="2400" b="1" dirty="0"/>
              <a:t>:</a:t>
            </a:r>
            <a:r>
              <a:rPr lang="ru-RU" sz="2400" dirty="0"/>
              <a:t> Ин модели </a:t>
            </a:r>
            <a:r>
              <a:rPr lang="ru-RU" sz="2400" dirty="0" err="1"/>
              <a:t>виртуалӣ</a:t>
            </a:r>
            <a:r>
              <a:rPr lang="ru-RU" sz="2400" dirty="0"/>
              <a:t> ба </a:t>
            </a:r>
            <a:r>
              <a:rPr lang="ru-RU" sz="2400" dirty="0" err="1"/>
              <a:t>духтурон</a:t>
            </a:r>
            <a:r>
              <a:rPr lang="ru-RU" sz="2400" dirty="0"/>
              <a:t> </a:t>
            </a:r>
            <a:r>
              <a:rPr lang="ru-RU" sz="2400" dirty="0" err="1"/>
              <a:t>имкон</a:t>
            </a:r>
            <a:r>
              <a:rPr lang="ru-RU" sz="2400" dirty="0"/>
              <a:t> </a:t>
            </a:r>
            <a:r>
              <a:rPr lang="ru-RU" sz="2400" dirty="0" err="1"/>
              <a:t>медиҳад</a:t>
            </a:r>
            <a:r>
              <a:rPr lang="ru-RU" sz="2400" dirty="0"/>
              <a:t>, </a:t>
            </a:r>
            <a:r>
              <a:rPr lang="ru-RU" sz="2400" dirty="0" err="1"/>
              <a:t>ки</a:t>
            </a:r>
            <a:r>
              <a:rPr lang="ru-RU" sz="2400" dirty="0"/>
              <a:t> </a:t>
            </a:r>
            <a:r>
              <a:rPr lang="ru-RU" sz="2400" dirty="0" err="1"/>
              <a:t>вокуниши</a:t>
            </a:r>
            <a:r>
              <a:rPr lang="ru-RU" sz="2400" dirty="0"/>
              <a:t> </a:t>
            </a:r>
            <a:r>
              <a:rPr lang="ru-RU" sz="2400" dirty="0" err="1"/>
              <a:t>беморро</a:t>
            </a:r>
            <a:r>
              <a:rPr lang="ru-RU" sz="2400" dirty="0"/>
              <a:t> ба </a:t>
            </a:r>
            <a:r>
              <a:rPr lang="ru-RU" sz="2400" dirty="0" err="1"/>
              <a:t>доруҳо</a:t>
            </a:r>
            <a:r>
              <a:rPr lang="ru-RU" sz="2400" dirty="0"/>
              <a:t> ё </a:t>
            </a:r>
            <a:r>
              <a:rPr lang="ru-RU" sz="2400" dirty="0" err="1"/>
              <a:t>ҷарроҳӣ</a:t>
            </a:r>
            <a:r>
              <a:rPr lang="ru-RU" sz="2400" dirty="0"/>
              <a:t> </a:t>
            </a:r>
            <a:r>
              <a:rPr lang="ru-RU" sz="2400" dirty="0" err="1"/>
              <a:t>пешакӣ</a:t>
            </a:r>
            <a:r>
              <a:rPr lang="ru-RU" sz="2400" dirty="0"/>
              <a:t> </a:t>
            </a:r>
            <a:r>
              <a:rPr lang="ru-RU" sz="2400" dirty="0" err="1"/>
              <a:t>таҳлил</a:t>
            </a:r>
            <a:r>
              <a:rPr lang="ru-RU" sz="2400" dirty="0"/>
              <a:t> карда, </a:t>
            </a:r>
            <a:r>
              <a:rPr lang="ru-RU" sz="2400" b="1" dirty="0" err="1"/>
              <a:t>табобати</a:t>
            </a:r>
            <a:r>
              <a:rPr lang="ru-RU" sz="2400" b="1" dirty="0"/>
              <a:t> </a:t>
            </a:r>
            <a:r>
              <a:rPr lang="ru-RU" sz="2400" b="1" dirty="0" err="1"/>
              <a:t>дақиқ</a:t>
            </a:r>
            <a:r>
              <a:rPr lang="ru-RU" sz="2400" b="1" dirty="0"/>
              <a:t> </a:t>
            </a:r>
            <a:r>
              <a:rPr lang="ru-RU" sz="2400" b="1" dirty="0" err="1"/>
              <a:t>ва</a:t>
            </a:r>
            <a:r>
              <a:rPr lang="ru-RU" sz="2400" b="1" dirty="0"/>
              <a:t> </a:t>
            </a:r>
            <a:r>
              <a:rPr lang="ru-RU" sz="2400" b="1" dirty="0" err="1"/>
              <a:t>инфиродӣ</a:t>
            </a:r>
            <a:r>
              <a:rPr lang="ru-RU" sz="2400" dirty="0" err="1"/>
              <a:t>-ро</a:t>
            </a:r>
            <a:r>
              <a:rPr lang="ru-RU" sz="2400" dirty="0"/>
              <a:t> </a:t>
            </a:r>
            <a:r>
              <a:rPr lang="ru-RU" sz="2400" dirty="0" err="1"/>
              <a:t>интихоб</a:t>
            </a:r>
            <a:r>
              <a:rPr lang="ru-RU" sz="2400" dirty="0"/>
              <a:t> </a:t>
            </a:r>
            <a:r>
              <a:rPr lang="ru-RU" sz="2400" dirty="0" err="1"/>
              <a:t>намоянд</a:t>
            </a:r>
            <a:r>
              <a:rPr lang="ru-RU" sz="2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9437737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Заголовок 12"/>
          <p:cNvSpPr>
            <a:spLocks noGrp="1"/>
          </p:cNvSpPr>
          <p:nvPr>
            <p:ph type="title"/>
          </p:nvPr>
        </p:nvSpPr>
        <p:spPr>
          <a:xfrm>
            <a:off x="677158" y="260648"/>
            <a:ext cx="8594429" cy="1320800"/>
          </a:xfrm>
        </p:spPr>
        <p:txBody>
          <a:bodyPr rtlCol="0">
            <a:normAutofit/>
          </a:bodyPr>
          <a:lstStyle/>
          <a:p>
            <a:r>
              <a:rPr lang="en-US" sz="3200" b="1" dirty="0">
                <a:hlinkClick r:id="rId3"/>
              </a:rPr>
              <a:t>https://github.com/Oftobcom/hbs</a:t>
            </a:r>
            <a:r>
              <a:rPr lang="tg-Cyrl-TJ" sz="3200" b="1" dirty="0"/>
              <a:t> </a:t>
            </a:r>
            <a:endParaRPr lang="ru-RU" sz="3200" dirty="0"/>
          </a:p>
        </p:txBody>
      </p:sp>
      <p:sp>
        <p:nvSpPr>
          <p:cNvPr id="14" name="Объект 13"/>
          <p:cNvSpPr>
            <a:spLocks noGrp="1"/>
          </p:cNvSpPr>
          <p:nvPr>
            <p:ph idx="1"/>
          </p:nvPr>
        </p:nvSpPr>
        <p:spPr>
          <a:xfrm>
            <a:off x="677158" y="1556792"/>
            <a:ext cx="8594429" cy="3880773"/>
          </a:xfrm>
        </p:spPr>
        <p:txBody>
          <a:bodyPr rtlCol="0">
            <a:normAutofit/>
          </a:bodyPr>
          <a:lstStyle/>
          <a:p>
            <a:r>
              <a:rPr lang="ru-RU" sz="2400" dirty="0"/>
              <a:t>Ин </a:t>
            </a:r>
            <a:r>
              <a:rPr lang="ru-RU" sz="2400" dirty="0" err="1"/>
              <a:t>лоиҳа</a:t>
            </a:r>
            <a:r>
              <a:rPr lang="ru-RU" sz="2400" dirty="0"/>
              <a:t> як модели физиологии </a:t>
            </a:r>
            <a:r>
              <a:rPr lang="ru-RU" sz="2400" dirty="0" err="1"/>
              <a:t>механикӣ</a:t>
            </a:r>
            <a:r>
              <a:rPr lang="ru-RU" sz="2400" dirty="0"/>
              <a:t> </a:t>
            </a:r>
            <a:r>
              <a:rPr lang="ru-RU" sz="2400" dirty="0" err="1"/>
              <a:t>ва</a:t>
            </a:r>
            <a:br>
              <a:rPr lang="ru-RU" sz="2400" dirty="0"/>
            </a:br>
            <a:r>
              <a:rPr lang="ru-RU" sz="2400" dirty="0" err="1"/>
              <a:t>бисёр-узваро</a:t>
            </a:r>
            <a:r>
              <a:rPr lang="ru-RU" sz="2400" dirty="0"/>
              <a:t> </a:t>
            </a:r>
            <a:r>
              <a:rPr lang="ru-RU" sz="2400" dirty="0" err="1"/>
              <a:t>пешниҳод</a:t>
            </a:r>
            <a:r>
              <a:rPr lang="ru-RU" sz="2400" dirty="0"/>
              <a:t> </a:t>
            </a:r>
            <a:r>
              <a:rPr lang="ru-RU" sz="2400" dirty="0" err="1"/>
              <a:t>мекунад</a:t>
            </a:r>
            <a:r>
              <a:rPr lang="ru-RU" sz="2400" dirty="0"/>
              <a:t>.</a:t>
            </a:r>
          </a:p>
          <a:p>
            <a:r>
              <a:rPr lang="ru-RU" sz="2400" dirty="0" err="1"/>
              <a:t>Ҳамчун</a:t>
            </a:r>
            <a:r>
              <a:rPr lang="ru-RU" sz="2400" dirty="0"/>
              <a:t> як </a:t>
            </a:r>
            <a:r>
              <a:rPr lang="ru-RU" sz="2400" dirty="0" err="1"/>
              <a:t>мисоли</a:t>
            </a:r>
            <a:r>
              <a:rPr lang="ru-RU" sz="2400" dirty="0"/>
              <a:t> </a:t>
            </a:r>
            <a:r>
              <a:rPr lang="ru-RU" sz="2400" dirty="0" err="1"/>
              <a:t>мушаххаси</a:t>
            </a:r>
            <a:r>
              <a:rPr lang="ru-RU" sz="2400" dirty="0"/>
              <a:t> "</a:t>
            </a:r>
            <a:r>
              <a:rPr lang="ru-RU" sz="2400" dirty="0" err="1"/>
              <a:t>Дугоники</a:t>
            </a:r>
            <a:r>
              <a:rPr lang="ru-RU" sz="2400" dirty="0"/>
              <a:t> </a:t>
            </a:r>
            <a:r>
              <a:rPr lang="ru-RU" sz="2400" dirty="0" err="1"/>
              <a:t>рақамии</a:t>
            </a:r>
            <a:r>
              <a:rPr lang="ru-RU" sz="2400" dirty="0"/>
              <a:t> </a:t>
            </a:r>
            <a:r>
              <a:rPr lang="ru-RU" sz="2400" dirty="0" err="1"/>
              <a:t>бемор</a:t>
            </a:r>
            <a:r>
              <a:rPr lang="ru-RU" sz="2400" dirty="0"/>
              <a:t>" </a:t>
            </a:r>
            <a:r>
              <a:rPr lang="ru-RU" sz="2400" dirty="0" err="1"/>
              <a:t>хизмат</a:t>
            </a:r>
            <a:r>
              <a:rPr lang="ru-RU" sz="2400" dirty="0"/>
              <a:t> карда </a:t>
            </a:r>
            <a:r>
              <a:rPr lang="ru-RU" sz="2400" dirty="0" err="1"/>
              <a:t>метавонад</a:t>
            </a:r>
            <a:r>
              <a:rPr lang="ru-RU" sz="2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7991934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Заголовок 12"/>
          <p:cNvSpPr>
            <a:spLocks noGrp="1"/>
          </p:cNvSpPr>
          <p:nvPr>
            <p:ph type="title"/>
          </p:nvPr>
        </p:nvSpPr>
        <p:spPr>
          <a:xfrm>
            <a:off x="677158" y="260648"/>
            <a:ext cx="8594429" cy="1320800"/>
          </a:xfrm>
        </p:spPr>
        <p:txBody>
          <a:bodyPr rtlCol="0">
            <a:normAutofit/>
          </a:bodyPr>
          <a:lstStyle/>
          <a:p>
            <a:r>
              <a:rPr lang="en-US" sz="3200" b="1" dirty="0">
                <a:hlinkClick r:id="rId3"/>
              </a:rPr>
              <a:t>https://github.com/Oftobcom/hbs</a:t>
            </a:r>
            <a:r>
              <a:rPr lang="tg-Cyrl-TJ" sz="3200" b="1" dirty="0"/>
              <a:t> </a:t>
            </a:r>
            <a:endParaRPr lang="ru-RU" sz="3200" dirty="0"/>
          </a:p>
        </p:txBody>
      </p:sp>
      <p:sp>
        <p:nvSpPr>
          <p:cNvPr id="14" name="Объект 13"/>
          <p:cNvSpPr>
            <a:spLocks noGrp="1"/>
          </p:cNvSpPr>
          <p:nvPr>
            <p:ph idx="1"/>
          </p:nvPr>
        </p:nvSpPr>
        <p:spPr>
          <a:xfrm>
            <a:off x="677158" y="1556792"/>
            <a:ext cx="8594429" cy="3880773"/>
          </a:xfrm>
        </p:spPr>
        <p:txBody>
          <a:bodyPr rtlCol="0">
            <a:normAutofit/>
          </a:bodyPr>
          <a:lstStyle/>
          <a:p>
            <a:r>
              <a:rPr lang="ru-RU" sz="2400" b="1" dirty="0" err="1"/>
              <a:t>Интерконнективӣ</a:t>
            </a:r>
            <a:r>
              <a:rPr lang="ru-RU" sz="2400" b="1" dirty="0"/>
              <a:t> (</a:t>
            </a:r>
            <a:r>
              <a:rPr lang="ru-RU" sz="2400" b="1" dirty="0" err="1"/>
              <a:t>пайвастагӣ</a:t>
            </a:r>
            <a:r>
              <a:rPr lang="ru-RU" sz="2400" b="1" dirty="0"/>
              <a:t>):</a:t>
            </a:r>
            <a:r>
              <a:rPr lang="ru-RU" sz="2400" dirty="0"/>
              <a:t> </a:t>
            </a:r>
            <a:r>
              <a:rPr lang="ru-RU" sz="2400" dirty="0" err="1"/>
              <a:t>Узвҳо</a:t>
            </a:r>
            <a:r>
              <a:rPr lang="ru-RU" sz="2400" dirty="0"/>
              <a:t> (</a:t>
            </a:r>
            <a:r>
              <a:rPr lang="ru-RU" sz="2400" dirty="0" err="1"/>
              <a:t>дилу</a:t>
            </a:r>
            <a:r>
              <a:rPr lang="ru-RU" sz="2400" dirty="0"/>
              <a:t> </a:t>
            </a:r>
            <a:r>
              <a:rPr lang="ru-RU" sz="2400" dirty="0" err="1"/>
              <a:t>шуш</a:t>
            </a:r>
            <a:r>
              <a:rPr lang="ru-RU" sz="2400" dirty="0"/>
              <a:t>, </a:t>
            </a:r>
            <a:r>
              <a:rPr lang="ru-RU" sz="2400" dirty="0" err="1"/>
              <a:t>ҷигару</a:t>
            </a:r>
            <a:r>
              <a:rPr lang="ru-RU" sz="2400" dirty="0"/>
              <a:t> гурда </a:t>
            </a:r>
            <a:r>
              <a:rPr lang="ru-RU" sz="2400" dirty="0" err="1"/>
              <a:t>ва</a:t>
            </a:r>
            <a:r>
              <a:rPr lang="ru-RU" sz="2400" dirty="0"/>
              <a:t> </a:t>
            </a:r>
            <a:r>
              <a:rPr lang="ru-RU" sz="2400" dirty="0" err="1"/>
              <a:t>ғайра</a:t>
            </a:r>
            <a:r>
              <a:rPr lang="ru-RU" sz="2400" dirty="0"/>
              <a:t>) дар </a:t>
            </a:r>
            <a:r>
              <a:rPr lang="ru-RU" sz="2400" dirty="0" err="1"/>
              <a:t>дохили</a:t>
            </a:r>
            <a:r>
              <a:rPr lang="ru-RU" sz="2400" dirty="0"/>
              <a:t> </a:t>
            </a:r>
            <a:r>
              <a:rPr lang="ru-RU" sz="2400" dirty="0" err="1"/>
              <a:t>компютер</a:t>
            </a:r>
            <a:r>
              <a:rPr lang="ru-RU" sz="2400" dirty="0"/>
              <a:t> </a:t>
            </a:r>
            <a:r>
              <a:rPr lang="ru-RU" sz="2400" dirty="0" err="1"/>
              <a:t>бо</a:t>
            </a:r>
            <a:r>
              <a:rPr lang="ru-RU" sz="2400" dirty="0"/>
              <a:t> </a:t>
            </a:r>
            <a:r>
              <a:rPr lang="ru-RU" sz="2400" dirty="0" err="1"/>
              <a:t>ҳамдигар</a:t>
            </a:r>
            <a:r>
              <a:rPr lang="ru-RU" sz="2400" dirty="0"/>
              <a:t> </a:t>
            </a:r>
            <a:r>
              <a:rPr lang="ru-RU" sz="2400" dirty="0" err="1"/>
              <a:t>ҳамкорӣ</a:t>
            </a:r>
            <a:r>
              <a:rPr lang="ru-RU" sz="2400" dirty="0"/>
              <a:t> </a:t>
            </a:r>
            <a:r>
              <a:rPr lang="ru-RU" sz="2400" dirty="0" err="1"/>
              <a:t>мекунанд</a:t>
            </a:r>
            <a:r>
              <a:rPr lang="ru-RU" sz="2400" dirty="0"/>
              <a:t>.</a:t>
            </a:r>
          </a:p>
          <a:p>
            <a:r>
              <a:rPr lang="ru-RU" sz="2400" b="1" dirty="0" err="1"/>
              <a:t>Пешгӯӣ</a:t>
            </a:r>
            <a:r>
              <a:rPr lang="ru-RU" sz="2400" b="1" dirty="0"/>
              <a:t>: </a:t>
            </a:r>
            <a:r>
              <a:rPr lang="ru-RU" sz="2400" dirty="0" err="1"/>
              <a:t>Бо</a:t>
            </a:r>
            <a:r>
              <a:rPr lang="ru-RU" sz="2400" dirty="0"/>
              <a:t> </a:t>
            </a:r>
            <a:r>
              <a:rPr lang="ru-RU" sz="2400" dirty="0" err="1"/>
              <a:t>тағир</a:t>
            </a:r>
            <a:r>
              <a:rPr lang="ru-RU" sz="2400" dirty="0"/>
              <a:t> </a:t>
            </a:r>
            <a:r>
              <a:rPr lang="ru-RU" sz="2400" dirty="0" err="1"/>
              <a:t>додани</a:t>
            </a:r>
            <a:r>
              <a:rPr lang="ru-RU" sz="2400" dirty="0"/>
              <a:t> </a:t>
            </a:r>
            <a:r>
              <a:rPr lang="ru-RU" sz="2400" dirty="0" err="1"/>
              <a:t>параметрҳо</a:t>
            </a:r>
            <a:r>
              <a:rPr lang="ru-RU" sz="2400" dirty="0"/>
              <a:t> (</a:t>
            </a:r>
            <a:r>
              <a:rPr lang="ru-RU" sz="2400" dirty="0" err="1"/>
              <a:t>масалан</a:t>
            </a:r>
            <a:r>
              <a:rPr lang="ru-RU" sz="2400" dirty="0"/>
              <a:t>, </a:t>
            </a:r>
            <a:r>
              <a:rPr lang="ru-RU" sz="2400" dirty="0" err="1"/>
              <a:t>андозаи</a:t>
            </a:r>
            <a:r>
              <a:rPr lang="ru-RU" sz="2400" dirty="0"/>
              <a:t> </a:t>
            </a:r>
            <a:r>
              <a:rPr lang="ru-RU" sz="2400" dirty="0" err="1"/>
              <a:t>нуқсони</a:t>
            </a:r>
            <a:r>
              <a:rPr lang="ru-RU" sz="2400" dirty="0"/>
              <a:t> </a:t>
            </a:r>
            <a:r>
              <a:rPr lang="ru-RU" sz="2400" dirty="0" err="1"/>
              <a:t>дил</a:t>
            </a:r>
            <a:r>
              <a:rPr lang="ru-RU" sz="2400" dirty="0"/>
              <a:t>, </a:t>
            </a:r>
            <a:r>
              <a:rPr lang="ru-RU" sz="2400" strike="sngStrike" dirty="0" err="1"/>
              <a:t>андозаи</a:t>
            </a:r>
            <a:r>
              <a:rPr lang="ru-RU" sz="2400" strike="sngStrike" dirty="0"/>
              <a:t> </a:t>
            </a:r>
            <a:r>
              <a:rPr lang="ru-RU" sz="2400" strike="sngStrike" dirty="0" err="1"/>
              <a:t>захми</a:t>
            </a:r>
            <a:r>
              <a:rPr lang="ru-RU" sz="2400" strike="sngStrike" dirty="0"/>
              <a:t> </a:t>
            </a:r>
            <a:r>
              <a:rPr lang="ru-RU" sz="2400" strike="sngStrike" dirty="0" err="1"/>
              <a:t>рӯдаи</a:t>
            </a:r>
            <a:r>
              <a:rPr lang="ru-RU" sz="2400" strike="sngStrike" dirty="0"/>
              <a:t> </a:t>
            </a:r>
            <a:r>
              <a:rPr lang="ru-RU" sz="2400" strike="sngStrike" dirty="0" err="1"/>
              <a:t>дувоздаҳангушта</a:t>
            </a:r>
            <a:r>
              <a:rPr lang="ru-RU" sz="2400" dirty="0"/>
              <a:t>, </a:t>
            </a:r>
            <a:r>
              <a:rPr lang="ru-RU" sz="2400" strike="sngStrike" dirty="0" err="1"/>
              <a:t>таъсири</a:t>
            </a:r>
            <a:r>
              <a:rPr lang="ru-RU" sz="2400" strike="sngStrike" dirty="0"/>
              <a:t> вирус ба </a:t>
            </a:r>
            <a:r>
              <a:rPr lang="ru-RU" sz="2400" strike="sngStrike" dirty="0" err="1"/>
              <a:t>ҷигар</a:t>
            </a:r>
            <a:r>
              <a:rPr lang="ru-RU" sz="2400" dirty="0"/>
              <a:t>), </a:t>
            </a:r>
            <a:r>
              <a:rPr lang="ru-RU" sz="2400" dirty="0" err="1"/>
              <a:t>мо</a:t>
            </a:r>
            <a:r>
              <a:rPr lang="ru-RU" sz="2400" dirty="0"/>
              <a:t> </a:t>
            </a:r>
            <a:r>
              <a:rPr lang="ru-RU" sz="2400" dirty="0" err="1"/>
              <a:t>метавонем</a:t>
            </a:r>
            <a:r>
              <a:rPr lang="ru-RU" sz="2400" dirty="0"/>
              <a:t> </a:t>
            </a:r>
            <a:r>
              <a:rPr lang="ru-RU" sz="2400" dirty="0" err="1"/>
              <a:t>натиҷаҳоро</a:t>
            </a:r>
            <a:r>
              <a:rPr lang="ru-RU" sz="2400" dirty="0"/>
              <a:t> </a:t>
            </a:r>
            <a:r>
              <a:rPr lang="ru-RU" sz="2400" dirty="0" err="1"/>
              <a:t>барои</a:t>
            </a:r>
            <a:r>
              <a:rPr lang="ru-RU" sz="2400" dirty="0"/>
              <a:t> </a:t>
            </a:r>
            <a:r>
              <a:rPr lang="ru-RU" sz="2400" dirty="0" err="1"/>
              <a:t>тамоми</a:t>
            </a:r>
            <a:r>
              <a:rPr lang="ru-RU" sz="2400" dirty="0"/>
              <a:t> </a:t>
            </a:r>
            <a:r>
              <a:rPr lang="ru-RU" sz="2400" dirty="0" err="1"/>
              <a:t>бадани</a:t>
            </a:r>
            <a:r>
              <a:rPr lang="ru-RU" sz="2400" dirty="0"/>
              <a:t> </a:t>
            </a:r>
            <a:r>
              <a:rPr lang="ru-RU" sz="2400" dirty="0" err="1"/>
              <a:t>инсон</a:t>
            </a:r>
            <a:r>
              <a:rPr lang="ru-RU" sz="2400" dirty="0"/>
              <a:t> </a:t>
            </a:r>
            <a:r>
              <a:rPr lang="ru-RU" sz="2400" dirty="0" err="1"/>
              <a:t>пешакӣ</a:t>
            </a:r>
            <a:r>
              <a:rPr lang="ru-RU" sz="2400" dirty="0"/>
              <a:t> </a:t>
            </a:r>
            <a:r>
              <a:rPr lang="ru-RU" sz="2400" dirty="0" err="1"/>
              <a:t>бинем</a:t>
            </a:r>
            <a:r>
              <a:rPr lang="ru-RU" sz="2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3248476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Заголовок 12"/>
          <p:cNvSpPr>
            <a:spLocks noGrp="1"/>
          </p:cNvSpPr>
          <p:nvPr>
            <p:ph type="title"/>
          </p:nvPr>
        </p:nvSpPr>
        <p:spPr>
          <a:xfrm>
            <a:off x="677158" y="260648"/>
            <a:ext cx="8594429" cy="792088"/>
          </a:xfrm>
        </p:spPr>
        <p:txBody>
          <a:bodyPr rtlCol="0">
            <a:normAutofit/>
          </a:bodyPr>
          <a:lstStyle/>
          <a:p>
            <a:r>
              <a:rPr lang="ru-RU" sz="3200" b="1" dirty="0" err="1"/>
              <a:t>Файлҳои</a:t>
            </a:r>
            <a:r>
              <a:rPr lang="ru-RU" sz="3200" b="1" dirty="0"/>
              <a:t> </a:t>
            </a:r>
            <a:r>
              <a:rPr lang="en-US" sz="3200" b="1" dirty="0"/>
              <a:t>HBS </a:t>
            </a:r>
            <a:r>
              <a:rPr lang="ru-RU" sz="3200" b="1" dirty="0"/>
              <a:t>аз </a:t>
            </a:r>
            <a:r>
              <a:rPr lang="ru-RU" sz="3200" b="1" dirty="0" err="1"/>
              <a:t>рӯи</a:t>
            </a:r>
            <a:r>
              <a:rPr lang="ru-RU" sz="3200" b="1" dirty="0"/>
              <a:t> </a:t>
            </a:r>
            <a:r>
              <a:rPr lang="ru-RU" sz="3200" b="1" dirty="0" err="1"/>
              <a:t>афзалият</a:t>
            </a:r>
            <a:r>
              <a:rPr lang="ru-RU" sz="3200" b="1" dirty="0"/>
              <a:t> </a:t>
            </a:r>
            <a:r>
              <a:rPr lang="ru-RU" sz="3200" b="1" dirty="0" err="1"/>
              <a:t>ва</a:t>
            </a:r>
            <a:r>
              <a:rPr lang="ru-RU" sz="3200" b="1" dirty="0"/>
              <a:t> </a:t>
            </a:r>
            <a:r>
              <a:rPr lang="ru-RU" sz="3200" b="1" dirty="0" err="1"/>
              <a:t>аҳамият</a:t>
            </a:r>
            <a:endParaRPr lang="ru-RU" sz="3200" dirty="0"/>
          </a:p>
        </p:txBody>
      </p:sp>
      <p:sp>
        <p:nvSpPr>
          <p:cNvPr id="14" name="Объект 13"/>
          <p:cNvSpPr>
            <a:spLocks noGrp="1"/>
          </p:cNvSpPr>
          <p:nvPr>
            <p:ph idx="1"/>
          </p:nvPr>
        </p:nvSpPr>
        <p:spPr>
          <a:xfrm>
            <a:off x="677158" y="1268760"/>
            <a:ext cx="8594429" cy="5328592"/>
          </a:xfrm>
        </p:spPr>
        <p:txBody>
          <a:bodyPr rtlCol="0">
            <a:noAutofit/>
          </a:bodyPr>
          <a:lstStyle/>
          <a:p>
            <a:r>
              <a:rPr lang="en-US" sz="2400" b="1" dirty="0"/>
              <a:t>whole_body.py</a:t>
            </a:r>
            <a:r>
              <a:rPr lang="en-US" sz="2400" dirty="0"/>
              <a:t>: </a:t>
            </a:r>
            <a:r>
              <a:rPr lang="ru-RU" sz="2400" dirty="0" err="1"/>
              <a:t>ядрои</a:t>
            </a:r>
            <a:r>
              <a:rPr lang="ru-RU" sz="2400" dirty="0"/>
              <a:t> </a:t>
            </a:r>
            <a:r>
              <a:rPr lang="ru-RU" sz="2400" dirty="0" err="1"/>
              <a:t>лоиҳа</a:t>
            </a:r>
            <a:r>
              <a:rPr lang="ru-RU" sz="2400" dirty="0"/>
              <a:t> — </a:t>
            </a:r>
            <a:r>
              <a:rPr lang="ru-RU" sz="2400" dirty="0" err="1"/>
              <a:t>ҷамъоварии</a:t>
            </a:r>
            <a:r>
              <a:rPr lang="ru-RU" sz="2400" dirty="0"/>
              <a:t> 10 </a:t>
            </a:r>
            <a:r>
              <a:rPr lang="ru-RU" sz="2400" dirty="0" err="1"/>
              <a:t>узвҳо</a:t>
            </a:r>
            <a:r>
              <a:rPr lang="en-US" sz="2400" dirty="0"/>
              <a:t>, </a:t>
            </a:r>
            <a:r>
              <a:rPr lang="ru-RU" sz="2400" dirty="0"/>
              <a:t>калибровка </a:t>
            </a:r>
            <a:r>
              <a:rPr lang="ru-RU" sz="2400" dirty="0" err="1"/>
              <a:t>ва</a:t>
            </a:r>
            <a:r>
              <a:rPr lang="ru-RU" sz="2400" dirty="0"/>
              <a:t> </a:t>
            </a:r>
            <a:r>
              <a:rPr lang="ru-RU" sz="2400" dirty="0" err="1"/>
              <a:t>ҳалли</a:t>
            </a:r>
            <a:r>
              <a:rPr lang="ru-RU" sz="2400" dirty="0"/>
              <a:t> </a:t>
            </a:r>
            <a:r>
              <a:rPr lang="ru-RU" sz="2400" dirty="0" err="1"/>
              <a:t>тамоми</a:t>
            </a:r>
            <a:r>
              <a:rPr lang="ru-RU" sz="2400" dirty="0"/>
              <a:t> гемодинамика </a:t>
            </a:r>
            <a:r>
              <a:rPr lang="ru-RU" sz="2400" dirty="0" err="1"/>
              <a:t>бо</a:t>
            </a:r>
            <a:r>
              <a:rPr lang="ru-RU" sz="2400" dirty="0"/>
              <a:t> </a:t>
            </a:r>
            <a:r>
              <a:rPr lang="en-US" sz="2400" dirty="0" err="1"/>
              <a:t>Qp</a:t>
            </a:r>
            <a:r>
              <a:rPr lang="en-US" sz="2400" dirty="0"/>
              <a:t>/Qs </a:t>
            </a:r>
            <a:r>
              <a:rPr lang="ru-RU" sz="2400" dirty="0" err="1"/>
              <a:t>ва</a:t>
            </a:r>
            <a:r>
              <a:rPr lang="ru-RU" sz="2400" dirty="0"/>
              <a:t> </a:t>
            </a:r>
            <a:r>
              <a:rPr lang="en-US" sz="2400" dirty="0"/>
              <a:t>VSD.</a:t>
            </a:r>
          </a:p>
          <a:p>
            <a:r>
              <a:rPr lang="en-US" sz="2400" b="1" dirty="0"/>
              <a:t>organ_base.py</a:t>
            </a:r>
            <a:r>
              <a:rPr lang="en-US" sz="2400" dirty="0"/>
              <a:t>: </a:t>
            </a:r>
            <a:r>
              <a:rPr lang="ru-RU" sz="2400" dirty="0" err="1"/>
              <a:t>интерфейси</a:t>
            </a:r>
            <a:r>
              <a:rPr lang="ru-RU" sz="2400" dirty="0"/>
              <a:t> </a:t>
            </a:r>
            <a:r>
              <a:rPr lang="ru-RU" sz="2400" dirty="0" err="1"/>
              <a:t>асосии</a:t>
            </a:r>
            <a:r>
              <a:rPr lang="ru-RU" sz="2400" dirty="0"/>
              <a:t> </a:t>
            </a:r>
            <a:r>
              <a:rPr lang="en-US" sz="2400" dirty="0" err="1"/>
              <a:t>OrganModel</a:t>
            </a:r>
            <a:r>
              <a:rPr lang="en-US" sz="2400" dirty="0"/>
              <a:t> — </a:t>
            </a:r>
            <a:r>
              <a:rPr lang="ru-RU" sz="2400" dirty="0" err="1"/>
              <a:t>шартнома</a:t>
            </a:r>
            <a:r>
              <a:rPr lang="ru-RU" sz="2400" dirty="0"/>
              <a:t> </a:t>
            </a:r>
            <a:r>
              <a:rPr lang="ru-RU" sz="2400" dirty="0" err="1"/>
              <a:t>барои</a:t>
            </a:r>
            <a:r>
              <a:rPr lang="ru-RU" sz="2400" dirty="0"/>
              <a:t> </a:t>
            </a:r>
            <a:r>
              <a:rPr lang="ru-RU" sz="2400" dirty="0" err="1"/>
              <a:t>ҳамаи</a:t>
            </a:r>
            <a:r>
              <a:rPr lang="ru-RU" sz="2400" dirty="0"/>
              <a:t> </a:t>
            </a:r>
            <a:r>
              <a:rPr lang="ru-RU" sz="2400" dirty="0" err="1"/>
              <a:t>узвҳо</a:t>
            </a:r>
            <a:r>
              <a:rPr lang="ru-RU" sz="2400" dirty="0"/>
              <a:t> (</a:t>
            </a:r>
            <a:r>
              <a:rPr lang="en-US" sz="2400" dirty="0"/>
              <a:t>state, derivatives, outputs).</a:t>
            </a:r>
          </a:p>
          <a:p>
            <a:r>
              <a:rPr lang="en-US" sz="2400" b="1" dirty="0"/>
              <a:t>heart.py</a:t>
            </a:r>
            <a:r>
              <a:rPr lang="en-US" sz="2400" dirty="0"/>
              <a:t>: </a:t>
            </a:r>
            <a:r>
              <a:rPr lang="ru-RU" sz="2400" dirty="0" err="1"/>
              <a:t>дили</a:t>
            </a:r>
            <a:r>
              <a:rPr lang="ru-RU" sz="2400" dirty="0"/>
              <a:t> 4-ҳуҷра </a:t>
            </a:r>
            <a:r>
              <a:rPr lang="ru-RU" sz="2400" dirty="0" err="1"/>
              <a:t>бо</a:t>
            </a:r>
            <a:r>
              <a:rPr lang="ru-RU" sz="2400" dirty="0"/>
              <a:t> </a:t>
            </a:r>
            <a:r>
              <a:rPr lang="ru-RU" sz="2400" dirty="0" err="1"/>
              <a:t>эластанс</a:t>
            </a:r>
            <a:r>
              <a:rPr lang="en-US" sz="2400" dirty="0"/>
              <a:t> </a:t>
            </a:r>
            <a:r>
              <a:rPr lang="ru-RU" sz="2400" dirty="0" err="1"/>
              <a:t>ва</a:t>
            </a:r>
            <a:r>
              <a:rPr lang="ru-RU" sz="2400" dirty="0"/>
              <a:t> </a:t>
            </a:r>
            <a:r>
              <a:rPr lang="ru-RU" sz="2400" dirty="0" err="1"/>
              <a:t>шунти</a:t>
            </a:r>
            <a:r>
              <a:rPr lang="ru-RU" sz="2400" dirty="0"/>
              <a:t> </a:t>
            </a:r>
            <a:r>
              <a:rPr lang="ru-RU" sz="2400" dirty="0" err="1"/>
              <a:t>дутарафаи</a:t>
            </a:r>
            <a:r>
              <a:rPr lang="ru-RU" sz="2400" dirty="0"/>
              <a:t> </a:t>
            </a:r>
            <a:r>
              <a:rPr lang="en-US" sz="2400" dirty="0" err="1"/>
              <a:t>Q_vsd</a:t>
            </a:r>
            <a:r>
              <a:rPr lang="en-US" sz="2400" dirty="0"/>
              <a:t>=(</a:t>
            </a:r>
            <a:r>
              <a:rPr lang="en-US" sz="2400" dirty="0" err="1"/>
              <a:t>P_lv−P_rv</a:t>
            </a:r>
            <a:r>
              <a:rPr lang="en-US" sz="2400" dirty="0"/>
              <a:t>)/</a:t>
            </a:r>
            <a:r>
              <a:rPr lang="en-US" sz="2400" dirty="0" err="1"/>
              <a:t>R_vsd</a:t>
            </a:r>
            <a:r>
              <a:rPr lang="en-US" sz="2400" dirty="0"/>
              <a:t> </a:t>
            </a:r>
            <a:r>
              <a:rPr lang="ru-RU" sz="2400" dirty="0" err="1"/>
              <a:t>барои</a:t>
            </a:r>
            <a:r>
              <a:rPr lang="ru-RU" sz="2400" dirty="0"/>
              <a:t> </a:t>
            </a:r>
            <a:r>
              <a:rPr lang="ru-RU" sz="2400" dirty="0" err="1"/>
              <a:t>синдроми</a:t>
            </a:r>
            <a:r>
              <a:rPr lang="ru-RU" sz="2400" dirty="0"/>
              <a:t> </a:t>
            </a:r>
            <a:r>
              <a:rPr lang="ru-RU" sz="2400" dirty="0" err="1"/>
              <a:t>Эйзенменгер</a:t>
            </a:r>
            <a:r>
              <a:rPr lang="ru-RU" sz="2400" dirty="0"/>
              <a:t>.</a:t>
            </a:r>
          </a:p>
          <a:p>
            <a:r>
              <a:rPr lang="en-US" sz="2400" b="1" dirty="0"/>
              <a:t>lungs.py</a:t>
            </a:r>
            <a:r>
              <a:rPr lang="en-US" sz="2400" dirty="0"/>
              <a:t>: </a:t>
            </a:r>
            <a:r>
              <a:rPr lang="ru-RU" sz="2400" dirty="0" err="1"/>
              <a:t>шушҳои</a:t>
            </a:r>
            <a:r>
              <a:rPr lang="ru-RU" sz="2400" dirty="0"/>
              <a:t> 2-</a:t>
            </a:r>
            <a:r>
              <a:rPr lang="en-US" sz="2400" dirty="0" err="1"/>
              <a:t>Windkessel</a:t>
            </a:r>
            <a:r>
              <a:rPr lang="en-US" sz="2400" dirty="0"/>
              <a:t> </a:t>
            </a:r>
            <a:r>
              <a:rPr lang="ru-RU" sz="2400" dirty="0" err="1"/>
              <a:t>бо</a:t>
            </a:r>
            <a:r>
              <a:rPr lang="ru-RU" sz="2400" dirty="0"/>
              <a:t> </a:t>
            </a:r>
            <a:r>
              <a:rPr lang="ru-RU" sz="2400" dirty="0" err="1"/>
              <a:t>афзоиши</a:t>
            </a:r>
            <a:r>
              <a:rPr lang="ru-RU" sz="2400" dirty="0"/>
              <a:t> </a:t>
            </a:r>
            <a:r>
              <a:rPr lang="ru-RU" sz="2400" dirty="0" err="1"/>
              <a:t>муқовимати</a:t>
            </a:r>
            <a:r>
              <a:rPr lang="ru-RU" sz="2400" dirty="0"/>
              <a:t> </a:t>
            </a:r>
            <a:r>
              <a:rPr lang="ru-RU" sz="2400" dirty="0" err="1"/>
              <a:t>вобаста</a:t>
            </a:r>
            <a:r>
              <a:rPr lang="ru-RU" sz="2400" dirty="0"/>
              <a:t> ба </a:t>
            </a:r>
            <a:r>
              <a:rPr lang="ru-RU" sz="2400" dirty="0" err="1"/>
              <a:t>ҷараён</a:t>
            </a:r>
            <a:r>
              <a:rPr lang="ru-RU" sz="2400" dirty="0"/>
              <a:t> то 3× </a:t>
            </a:r>
            <a:r>
              <a:rPr lang="ru-RU" sz="2400" dirty="0" err="1"/>
              <a:t>ҳангоми</a:t>
            </a:r>
            <a:r>
              <a:rPr lang="ru-RU" sz="2400" dirty="0"/>
              <a:t> </a:t>
            </a:r>
            <a:r>
              <a:rPr lang="en-US" sz="2400" dirty="0" err="1"/>
              <a:t>Qp</a:t>
            </a:r>
            <a:r>
              <a:rPr lang="en-US" sz="2400" dirty="0"/>
              <a:t>&gt;80 </a:t>
            </a:r>
            <a:r>
              <a:rPr lang="ru-RU" sz="2400" dirty="0"/>
              <a:t>мл/с — модели </a:t>
            </a:r>
            <a:r>
              <a:rPr lang="ru-RU" sz="2400" dirty="0" err="1"/>
              <a:t>гипертензияи</a:t>
            </a:r>
            <a:r>
              <a:rPr lang="ru-RU" sz="2400" dirty="0"/>
              <a:t> </a:t>
            </a:r>
            <a:r>
              <a:rPr lang="ru-RU" sz="2400" dirty="0" err="1"/>
              <a:t>шуш</a:t>
            </a:r>
            <a:r>
              <a:rPr lang="ru-RU" sz="2400" dirty="0"/>
              <a:t>.</a:t>
            </a:r>
          </a:p>
          <a:p>
            <a:r>
              <a:rPr lang="en-US" sz="2400" b="1" dirty="0"/>
              <a:t>blood.py</a:t>
            </a:r>
            <a:r>
              <a:rPr lang="en-US" sz="2400" dirty="0"/>
              <a:t>: </a:t>
            </a:r>
            <a:r>
              <a:rPr lang="ru-RU" sz="2400" dirty="0" err="1"/>
              <a:t>резервуари</a:t>
            </a:r>
            <a:r>
              <a:rPr lang="ru-RU" sz="2400" dirty="0"/>
              <a:t> </a:t>
            </a:r>
            <a:r>
              <a:rPr lang="ru-RU" sz="2400" dirty="0" err="1"/>
              <a:t>хун</a:t>
            </a:r>
            <a:r>
              <a:rPr lang="ru-RU" sz="2400" dirty="0"/>
              <a:t> [</a:t>
            </a:r>
            <a:r>
              <a:rPr lang="en-US" sz="2400" dirty="0" err="1"/>
              <a:t>V_blood</a:t>
            </a:r>
            <a:r>
              <a:rPr lang="en-US" sz="2400" dirty="0"/>
              <a:t>, </a:t>
            </a:r>
            <a:r>
              <a:rPr lang="en-US" sz="2400" dirty="0" err="1"/>
              <a:t>C_i</a:t>
            </a:r>
            <a:r>
              <a:rPr lang="en-US" sz="2400" dirty="0"/>
              <a:t>] </a:t>
            </a:r>
            <a:r>
              <a:rPr lang="ru-RU" sz="2400" dirty="0" err="1"/>
              <a:t>бо</a:t>
            </a:r>
            <a:r>
              <a:rPr lang="ru-RU" sz="2400" dirty="0"/>
              <a:t> </a:t>
            </a:r>
            <a:r>
              <a:rPr lang="ru-RU" sz="2400" dirty="0" err="1"/>
              <a:t>таносуби</a:t>
            </a:r>
            <a:r>
              <a:rPr lang="ru-RU" sz="2400" dirty="0"/>
              <a:t> </a:t>
            </a:r>
            <a:r>
              <a:rPr lang="ru-RU" sz="2400" dirty="0" err="1"/>
              <a:t>дурусти</a:t>
            </a:r>
            <a:r>
              <a:rPr lang="ru-RU" sz="2400" dirty="0"/>
              <a:t> </a:t>
            </a:r>
            <a:r>
              <a:rPr lang="ru-RU" sz="2400" dirty="0" err="1"/>
              <a:t>раққиқшавӣ</a:t>
            </a:r>
            <a:r>
              <a:rPr lang="ru-RU" sz="2400" dirty="0"/>
              <a:t> </a:t>
            </a:r>
            <a:r>
              <a:rPr lang="en-US" sz="2400" dirty="0" err="1"/>
              <a:t>dC</a:t>
            </a:r>
            <a:r>
              <a:rPr lang="en-US" sz="2400" dirty="0"/>
              <a:t>=</a:t>
            </a:r>
            <a:r>
              <a:rPr lang="en-US" sz="2400" dirty="0" err="1"/>
              <a:t>dC_in−C·dV</a:t>
            </a:r>
            <a:r>
              <a:rPr lang="en-US" sz="2400" dirty="0"/>
              <a:t>/V.</a:t>
            </a:r>
          </a:p>
        </p:txBody>
      </p:sp>
    </p:spTree>
    <p:extLst>
      <p:ext uri="{BB962C8B-B14F-4D97-AF65-F5344CB8AC3E}">
        <p14:creationId xmlns:p14="http://schemas.microsoft.com/office/powerpoint/2010/main" val="31104425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Заголовок 12"/>
          <p:cNvSpPr>
            <a:spLocks noGrp="1"/>
          </p:cNvSpPr>
          <p:nvPr>
            <p:ph type="title"/>
          </p:nvPr>
        </p:nvSpPr>
        <p:spPr>
          <a:xfrm>
            <a:off x="677158" y="260648"/>
            <a:ext cx="8594429" cy="792088"/>
          </a:xfrm>
        </p:spPr>
        <p:txBody>
          <a:bodyPr rtlCol="0">
            <a:normAutofit/>
          </a:bodyPr>
          <a:lstStyle/>
          <a:p>
            <a:r>
              <a:rPr lang="ru-RU" sz="3200" b="1" dirty="0" err="1"/>
              <a:t>Файлҳои</a:t>
            </a:r>
            <a:r>
              <a:rPr lang="ru-RU" sz="3200" b="1" dirty="0"/>
              <a:t> </a:t>
            </a:r>
            <a:r>
              <a:rPr lang="en-US" sz="3200" b="1" dirty="0"/>
              <a:t>HBS </a:t>
            </a:r>
            <a:r>
              <a:rPr lang="ru-RU" sz="3200" b="1" dirty="0"/>
              <a:t>аз </a:t>
            </a:r>
            <a:r>
              <a:rPr lang="ru-RU" sz="3200" b="1" dirty="0" err="1"/>
              <a:t>рӯи</a:t>
            </a:r>
            <a:r>
              <a:rPr lang="ru-RU" sz="3200" b="1" dirty="0"/>
              <a:t> </a:t>
            </a:r>
            <a:r>
              <a:rPr lang="ru-RU" sz="3200" b="1" dirty="0" err="1"/>
              <a:t>афзалият</a:t>
            </a:r>
            <a:r>
              <a:rPr lang="ru-RU" sz="3200" b="1" dirty="0"/>
              <a:t> </a:t>
            </a:r>
            <a:r>
              <a:rPr lang="ru-RU" sz="3200" b="1" dirty="0" err="1"/>
              <a:t>ва</a:t>
            </a:r>
            <a:r>
              <a:rPr lang="ru-RU" sz="3200" b="1" dirty="0"/>
              <a:t> </a:t>
            </a:r>
            <a:r>
              <a:rPr lang="ru-RU" sz="3200" b="1" dirty="0" err="1"/>
              <a:t>аҳамият</a:t>
            </a:r>
            <a:endParaRPr lang="ru-RU" sz="3200" dirty="0"/>
          </a:p>
        </p:txBody>
      </p:sp>
      <p:sp>
        <p:nvSpPr>
          <p:cNvPr id="14" name="Объект 13"/>
          <p:cNvSpPr>
            <a:spLocks noGrp="1"/>
          </p:cNvSpPr>
          <p:nvPr>
            <p:ph idx="1"/>
          </p:nvPr>
        </p:nvSpPr>
        <p:spPr>
          <a:xfrm>
            <a:off x="677158" y="1268760"/>
            <a:ext cx="8594429" cy="5328592"/>
          </a:xfrm>
        </p:spPr>
        <p:txBody>
          <a:bodyPr rtlCol="0">
            <a:noAutofit/>
          </a:bodyPr>
          <a:lstStyle/>
          <a:p>
            <a:r>
              <a:rPr lang="en-US" sz="2400" b="1" dirty="0"/>
              <a:t>kidney.py</a:t>
            </a:r>
            <a:r>
              <a:rPr lang="en-US" sz="2400" dirty="0"/>
              <a:t>: </a:t>
            </a:r>
            <a:r>
              <a:rPr lang="ru-RU" sz="2400" dirty="0" err="1"/>
              <a:t>гурдаҳо</a:t>
            </a:r>
            <a:r>
              <a:rPr lang="ru-RU" sz="2400" dirty="0"/>
              <a:t> </a:t>
            </a:r>
            <a:r>
              <a:rPr lang="ru-RU" sz="2400" dirty="0" err="1"/>
              <a:t>бо</a:t>
            </a:r>
            <a:r>
              <a:rPr lang="ru-RU" sz="2400" dirty="0"/>
              <a:t> </a:t>
            </a:r>
            <a:r>
              <a:rPr lang="ru-RU" sz="2400" dirty="0" err="1"/>
              <a:t>худтанзимкунии</a:t>
            </a:r>
            <a:r>
              <a:rPr lang="ru-RU" sz="2400" dirty="0"/>
              <a:t> </a:t>
            </a:r>
            <a:r>
              <a:rPr lang="ru-RU" sz="2400" dirty="0" err="1"/>
              <a:t>сигмоидалии</a:t>
            </a:r>
            <a:r>
              <a:rPr lang="ru-RU" sz="2400" dirty="0"/>
              <a:t> СКФ </a:t>
            </a:r>
            <a:r>
              <a:rPr lang="ru-RU" sz="2400" dirty="0" err="1"/>
              <a:t>ва</a:t>
            </a:r>
            <a:r>
              <a:rPr lang="ru-RU" sz="2400" dirty="0"/>
              <a:t> </a:t>
            </a:r>
            <a:r>
              <a:rPr lang="ru-RU" sz="2400" dirty="0" err="1"/>
              <a:t>тозакунии</a:t>
            </a:r>
            <a:r>
              <a:rPr lang="ru-RU" sz="2400" dirty="0"/>
              <a:t> </a:t>
            </a:r>
            <a:r>
              <a:rPr lang="ru-RU" sz="2400" dirty="0" err="1"/>
              <a:t>токсинҳо</a:t>
            </a:r>
            <a:r>
              <a:rPr lang="ru-RU" sz="2400" dirty="0"/>
              <a:t>.</a:t>
            </a:r>
          </a:p>
          <a:p>
            <a:r>
              <a:rPr lang="en-US" sz="2400" b="1" dirty="0"/>
              <a:t>liver.py</a:t>
            </a:r>
            <a:r>
              <a:rPr lang="en-US" sz="2400" dirty="0"/>
              <a:t>: </a:t>
            </a:r>
            <a:r>
              <a:rPr lang="ru-RU" sz="2400" dirty="0" err="1"/>
              <a:t>ҷигар</a:t>
            </a:r>
            <a:r>
              <a:rPr lang="ru-RU" sz="2400" dirty="0"/>
              <a:t> </a:t>
            </a:r>
            <a:r>
              <a:rPr lang="ru-RU" sz="2400" dirty="0" err="1"/>
              <a:t>бо</a:t>
            </a:r>
            <a:r>
              <a:rPr lang="ru-RU" sz="2400" dirty="0"/>
              <a:t> </a:t>
            </a:r>
            <a:r>
              <a:rPr lang="ru-RU" sz="2400" dirty="0" err="1"/>
              <a:t>ҷараёни</a:t>
            </a:r>
            <a:r>
              <a:rPr lang="ru-RU" sz="2400" dirty="0"/>
              <a:t> </a:t>
            </a:r>
            <a:r>
              <a:rPr lang="ru-RU" sz="2400" dirty="0" err="1"/>
              <a:t>дугонаи</a:t>
            </a:r>
            <a:r>
              <a:rPr lang="ru-RU" sz="2400" dirty="0"/>
              <a:t> </a:t>
            </a:r>
            <a:r>
              <a:rPr lang="en-US" sz="2400" dirty="0" err="1"/>
              <a:t>Q_ha+Q_pv</a:t>
            </a:r>
            <a:r>
              <a:rPr lang="en-US" sz="2400" dirty="0"/>
              <a:t>, </a:t>
            </a:r>
            <a:r>
              <a:rPr lang="en-US" sz="2400" dirty="0" err="1"/>
              <a:t>Windkessel</a:t>
            </a:r>
            <a:r>
              <a:rPr lang="en-US" sz="2400" dirty="0"/>
              <a:t>-</a:t>
            </a:r>
            <a:r>
              <a:rPr lang="ru-RU" sz="2400" dirty="0"/>
              <a:t>и </a:t>
            </a:r>
            <a:r>
              <a:rPr lang="ru-RU" sz="2400" dirty="0" err="1"/>
              <a:t>варидҳои</a:t>
            </a:r>
            <a:r>
              <a:rPr lang="ru-RU" sz="2400" dirty="0"/>
              <a:t> </a:t>
            </a:r>
            <a:r>
              <a:rPr lang="ru-RU" sz="2400" dirty="0" err="1"/>
              <a:t>порталӣ</a:t>
            </a:r>
            <a:r>
              <a:rPr lang="ru-RU" sz="2400" dirty="0"/>
              <a:t> </a:t>
            </a:r>
            <a:r>
              <a:rPr lang="ru-RU" sz="2400" dirty="0" err="1"/>
              <a:t>ва</a:t>
            </a:r>
            <a:r>
              <a:rPr lang="ru-RU" sz="2400" dirty="0"/>
              <a:t> </a:t>
            </a:r>
            <a:r>
              <a:rPr lang="ru-RU" sz="2400" dirty="0" err="1"/>
              <a:t>тозакунии</a:t>
            </a:r>
            <a:r>
              <a:rPr lang="ru-RU" sz="2400" dirty="0"/>
              <a:t> билирубин/аммиак.</a:t>
            </a:r>
          </a:p>
          <a:p>
            <a:r>
              <a:rPr lang="en-US" sz="2400" b="1" dirty="0"/>
              <a:t>baroreflex.py</a:t>
            </a:r>
            <a:r>
              <a:rPr lang="en-US" sz="2400" dirty="0"/>
              <a:t>: </a:t>
            </a:r>
            <a:r>
              <a:rPr lang="ru-RU" sz="2400" dirty="0" err="1"/>
              <a:t>барорефлекси</a:t>
            </a:r>
            <a:r>
              <a:rPr lang="ru-RU" sz="2400" dirty="0"/>
              <a:t> </a:t>
            </a:r>
            <a:r>
              <a:rPr lang="ru-RU" sz="2400" dirty="0" err="1"/>
              <a:t>тартиби</a:t>
            </a:r>
            <a:r>
              <a:rPr lang="ru-RU" sz="2400" dirty="0"/>
              <a:t> </a:t>
            </a:r>
            <a:r>
              <a:rPr lang="ru-RU" sz="2400" dirty="0" err="1"/>
              <a:t>якум</a:t>
            </a:r>
            <a:r>
              <a:rPr lang="ru-RU" sz="2400" dirty="0"/>
              <a:t> </a:t>
            </a:r>
            <a:r>
              <a:rPr lang="en-US" sz="2400" dirty="0" err="1"/>
              <a:t>dHR</a:t>
            </a:r>
            <a:r>
              <a:rPr lang="en-US" sz="2400" dirty="0"/>
              <a:t>=(</a:t>
            </a:r>
            <a:r>
              <a:rPr lang="en-US" sz="2400" dirty="0" err="1"/>
              <a:t>HR_target</a:t>
            </a:r>
            <a:r>
              <a:rPr lang="en-US" sz="2400" dirty="0"/>
              <a:t>−HR)/tau, </a:t>
            </a:r>
            <a:r>
              <a:rPr lang="en-US" sz="2400" dirty="0" err="1"/>
              <a:t>HR_target</a:t>
            </a:r>
            <a:r>
              <a:rPr lang="en-US" sz="2400" dirty="0"/>
              <a:t> </a:t>
            </a:r>
            <a:r>
              <a:rPr lang="ru-RU" sz="2400" dirty="0"/>
              <a:t>аз </a:t>
            </a:r>
            <a:r>
              <a:rPr lang="en-US" sz="2400" dirty="0" err="1"/>
              <a:t>P_sa</a:t>
            </a:r>
            <a:r>
              <a:rPr lang="en-US" sz="2400" dirty="0"/>
              <a:t>.</a:t>
            </a:r>
          </a:p>
          <a:p>
            <a:r>
              <a:rPr lang="en-US" sz="2400" b="1" dirty="0"/>
              <a:t>brain.py</a:t>
            </a:r>
            <a:r>
              <a:rPr lang="en-US" sz="2400" dirty="0"/>
              <a:t>: </a:t>
            </a:r>
            <a:r>
              <a:rPr lang="ru-RU" sz="2400" dirty="0"/>
              <a:t>майна </a:t>
            </a:r>
            <a:r>
              <a:rPr lang="ru-RU" sz="2400" dirty="0" err="1"/>
              <a:t>бо</a:t>
            </a:r>
            <a:r>
              <a:rPr lang="ru-RU" sz="2400" dirty="0"/>
              <a:t> </a:t>
            </a:r>
            <a:r>
              <a:rPr lang="ru-RU" sz="2400" dirty="0" err="1"/>
              <a:t>худтанзимкунии</a:t>
            </a:r>
            <a:r>
              <a:rPr lang="ru-RU" sz="2400" dirty="0"/>
              <a:t> </a:t>
            </a:r>
            <a:r>
              <a:rPr lang="en-US" sz="2400" dirty="0"/>
              <a:t>R=</a:t>
            </a:r>
            <a:r>
              <a:rPr lang="en-US" sz="2400" dirty="0" err="1"/>
              <a:t>R_base</a:t>
            </a:r>
            <a:r>
              <a:rPr lang="en-US" sz="2400" dirty="0"/>
              <a:t>·(1+gain·tanh) </a:t>
            </a:r>
            <a:r>
              <a:rPr lang="ru-RU" sz="2400" dirty="0" err="1"/>
              <a:t>ва</a:t>
            </a:r>
            <a:r>
              <a:rPr lang="ru-RU" sz="2400" dirty="0"/>
              <a:t> </a:t>
            </a:r>
            <a:r>
              <a:rPr lang="ru-RU" sz="2400" dirty="0" err="1"/>
              <a:t>метаболизми</a:t>
            </a:r>
            <a:r>
              <a:rPr lang="ru-RU" sz="2400" dirty="0"/>
              <a:t> </a:t>
            </a:r>
            <a:r>
              <a:rPr lang="en-US" sz="2400" dirty="0"/>
              <a:t>O2/</a:t>
            </a:r>
            <a:r>
              <a:rPr lang="ru-RU" sz="2400" dirty="0"/>
              <a:t>глюкоза.</a:t>
            </a:r>
          </a:p>
          <a:p>
            <a:r>
              <a:rPr lang="en-US" sz="2400" b="1" dirty="0"/>
              <a:t>gitract.py</a:t>
            </a:r>
            <a:r>
              <a:rPr lang="en-US" sz="2400" dirty="0"/>
              <a:t>: </a:t>
            </a:r>
            <a:r>
              <a:rPr lang="ru-RU" sz="2400" dirty="0" err="1"/>
              <a:t>роҳи</a:t>
            </a:r>
            <a:r>
              <a:rPr lang="ru-RU" sz="2400" dirty="0"/>
              <a:t> </a:t>
            </a:r>
            <a:r>
              <a:rPr lang="ru-RU" sz="2400" dirty="0" err="1"/>
              <a:t>ҳозима</a:t>
            </a:r>
            <a:r>
              <a:rPr lang="ru-RU" sz="2400" dirty="0"/>
              <a:t> </a:t>
            </a:r>
            <a:r>
              <a:rPr lang="ru-RU" sz="2400" dirty="0" err="1"/>
              <a:t>бо</a:t>
            </a:r>
            <a:r>
              <a:rPr lang="ru-RU" sz="2400" dirty="0"/>
              <a:t> </a:t>
            </a:r>
            <a:r>
              <a:rPr lang="ru-RU" sz="2400" dirty="0" err="1"/>
              <a:t>ҷараёни</a:t>
            </a:r>
            <a:r>
              <a:rPr lang="ru-RU" sz="2400" dirty="0"/>
              <a:t> </a:t>
            </a:r>
            <a:r>
              <a:rPr lang="ru-RU" sz="2400" dirty="0" err="1"/>
              <a:t>порталӣ</a:t>
            </a:r>
            <a:r>
              <a:rPr lang="ru-RU" sz="2400" dirty="0"/>
              <a:t> </a:t>
            </a:r>
            <a:r>
              <a:rPr lang="ru-RU" sz="2400" dirty="0" err="1"/>
              <a:t>ва</a:t>
            </a:r>
            <a:r>
              <a:rPr lang="ru-RU" sz="2400" dirty="0"/>
              <a:t> </a:t>
            </a:r>
            <a:r>
              <a:rPr lang="ru-RU" sz="2400" dirty="0" err="1"/>
              <a:t>коҳиши</a:t>
            </a:r>
            <a:r>
              <a:rPr lang="ru-RU" sz="2400" dirty="0"/>
              <a:t> </a:t>
            </a:r>
            <a:r>
              <a:rPr lang="ru-RU" sz="2400" dirty="0" err="1"/>
              <a:t>фурӯкашӣ</a:t>
            </a:r>
            <a:r>
              <a:rPr lang="ru-RU" sz="2400" dirty="0"/>
              <a:t> </a:t>
            </a:r>
            <a:r>
              <a:rPr lang="ru-RU" sz="2400" dirty="0" err="1"/>
              <a:t>ҳангоми</a:t>
            </a:r>
            <a:r>
              <a:rPr lang="ru-RU" sz="2400" dirty="0"/>
              <a:t> </a:t>
            </a:r>
            <a:r>
              <a:rPr lang="ru-RU" sz="2400" dirty="0" err="1"/>
              <a:t>афзоиши</a:t>
            </a:r>
            <a:r>
              <a:rPr lang="ru-RU" sz="2400" dirty="0"/>
              <a:t> </a:t>
            </a:r>
            <a:r>
              <a:rPr lang="en-US" sz="2400" dirty="0" err="1"/>
              <a:t>P_portal</a:t>
            </a:r>
            <a:r>
              <a:rPr lang="en-US" sz="2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2961607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" name="Google Shape;143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61764" y="1412776"/>
            <a:ext cx="5237386" cy="399945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8"/>
          <p:cNvSpPr txBox="1"/>
          <p:nvPr/>
        </p:nvSpPr>
        <p:spPr>
          <a:xfrm>
            <a:off x="5719651" y="1556792"/>
            <a:ext cx="4398865" cy="1477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2400" dirty="0" err="1">
                <a:solidFill>
                  <a:srgbClr val="1A1A1A"/>
                </a:solidFill>
                <a:latin typeface="DM Sans"/>
                <a:ea typeface="DM Sans"/>
                <a:cs typeface="DM Sans"/>
                <a:sym typeface="DM Sans"/>
              </a:rPr>
              <a:t>Платформаи</a:t>
            </a:r>
            <a:r>
              <a:rPr lang="en-US" sz="2400" dirty="0">
                <a:solidFill>
                  <a:srgbClr val="1A1A1A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2400" dirty="0" err="1">
                <a:solidFill>
                  <a:srgbClr val="1A1A1A"/>
                </a:solidFill>
                <a:latin typeface="DM Sans"/>
                <a:ea typeface="DM Sans"/>
                <a:cs typeface="DM Sans"/>
                <a:sym typeface="DM Sans"/>
              </a:rPr>
              <a:t>интеллектуалӣ</a:t>
            </a:r>
            <a:r>
              <a:rPr lang="en-US" sz="2400" dirty="0">
                <a:solidFill>
                  <a:srgbClr val="1A1A1A"/>
                </a:solidFill>
                <a:latin typeface="DM Sans"/>
                <a:ea typeface="DM Sans"/>
                <a:cs typeface="DM Sans"/>
                <a:sym typeface="DM Sans"/>
              </a:rPr>
              <a:t>, </a:t>
            </a:r>
            <a:r>
              <a:rPr lang="en-US" sz="2400" dirty="0" err="1">
                <a:solidFill>
                  <a:srgbClr val="1A1A1A"/>
                </a:solidFill>
                <a:latin typeface="DM Sans"/>
                <a:ea typeface="DM Sans"/>
                <a:cs typeface="DM Sans"/>
                <a:sym typeface="DM Sans"/>
              </a:rPr>
              <a:t>ки</a:t>
            </a:r>
            <a:r>
              <a:rPr lang="en-US" sz="2400" dirty="0">
                <a:solidFill>
                  <a:srgbClr val="1A1A1A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2400" dirty="0" err="1">
                <a:solidFill>
                  <a:srgbClr val="1A1A1A"/>
                </a:solidFill>
                <a:latin typeface="DM Sans"/>
                <a:ea typeface="DM Sans"/>
                <a:cs typeface="DM Sans"/>
                <a:sym typeface="DM Sans"/>
              </a:rPr>
              <a:t>дар</a:t>
            </a:r>
            <a:r>
              <a:rPr lang="en-US" sz="2400" dirty="0">
                <a:solidFill>
                  <a:srgbClr val="1A1A1A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2400" dirty="0" err="1">
                <a:solidFill>
                  <a:srgbClr val="1A1A1A"/>
                </a:solidFill>
                <a:latin typeface="DM Sans"/>
                <a:ea typeface="DM Sans"/>
                <a:cs typeface="DM Sans"/>
                <a:sym typeface="DM Sans"/>
              </a:rPr>
              <a:t>асоси</a:t>
            </a:r>
            <a:r>
              <a:rPr lang="en-US" sz="2400" dirty="0">
                <a:solidFill>
                  <a:srgbClr val="1A1A1A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2400" dirty="0" err="1">
                <a:solidFill>
                  <a:srgbClr val="1A1A1A"/>
                </a:solidFill>
                <a:latin typeface="DM Sans"/>
                <a:ea typeface="DM Sans"/>
                <a:cs typeface="DM Sans"/>
                <a:sym typeface="DM Sans"/>
              </a:rPr>
              <a:t>таҳлили</a:t>
            </a:r>
            <a:r>
              <a:rPr lang="en-US" sz="2400" dirty="0">
                <a:solidFill>
                  <a:srgbClr val="1A1A1A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tg-Cyrl-TJ" sz="2400" dirty="0">
                <a:solidFill>
                  <a:srgbClr val="1A1A1A"/>
                </a:solidFill>
                <a:latin typeface="DM Sans"/>
                <a:ea typeface="DM Sans"/>
                <a:cs typeface="DM Sans"/>
                <a:sym typeface="DM Sans"/>
              </a:rPr>
              <a:t>д</a:t>
            </a:r>
            <a:r>
              <a:rPr lang="en-US" sz="2400" dirty="0" err="1">
                <a:solidFill>
                  <a:srgbClr val="1A1A1A"/>
                </a:solidFill>
                <a:latin typeface="DM Sans"/>
                <a:ea typeface="DM Sans"/>
                <a:cs typeface="DM Sans"/>
                <a:sym typeface="DM Sans"/>
              </a:rPr>
              <a:t>угоники</a:t>
            </a:r>
            <a:r>
              <a:rPr lang="en-US" sz="2400" dirty="0">
                <a:solidFill>
                  <a:srgbClr val="1A1A1A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2400" dirty="0" err="1">
                <a:solidFill>
                  <a:srgbClr val="1A1A1A"/>
                </a:solidFill>
                <a:latin typeface="DM Sans"/>
                <a:ea typeface="DM Sans"/>
                <a:cs typeface="DM Sans"/>
                <a:sym typeface="DM Sans"/>
              </a:rPr>
              <a:t>рақамӣ</a:t>
            </a:r>
            <a:r>
              <a:rPr lang="en-US" sz="2400" dirty="0">
                <a:solidFill>
                  <a:srgbClr val="1A1A1A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2400" dirty="0" err="1">
                <a:solidFill>
                  <a:srgbClr val="1A1A1A"/>
                </a:solidFill>
                <a:latin typeface="DM Sans"/>
                <a:ea typeface="DM Sans"/>
                <a:cs typeface="DM Sans"/>
                <a:sym typeface="DM Sans"/>
              </a:rPr>
              <a:t>ба</a:t>
            </a:r>
            <a:r>
              <a:rPr lang="en-US" sz="2400" dirty="0">
                <a:solidFill>
                  <a:srgbClr val="1A1A1A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2400" dirty="0" err="1">
                <a:solidFill>
                  <a:srgbClr val="1A1A1A"/>
                </a:solidFill>
                <a:latin typeface="DM Sans"/>
                <a:ea typeface="DM Sans"/>
                <a:cs typeface="DM Sans"/>
                <a:sym typeface="DM Sans"/>
              </a:rPr>
              <a:t>духтурон</a:t>
            </a:r>
            <a:r>
              <a:rPr lang="en-US" sz="2400" dirty="0">
                <a:solidFill>
                  <a:srgbClr val="1A1A1A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2400" dirty="0" err="1">
                <a:solidFill>
                  <a:srgbClr val="1A1A1A"/>
                </a:solidFill>
                <a:latin typeface="DM Sans"/>
                <a:ea typeface="DM Sans"/>
                <a:cs typeface="DM Sans"/>
                <a:sym typeface="DM Sans"/>
              </a:rPr>
              <a:t>тавсияҳои</a:t>
            </a:r>
            <a:r>
              <a:rPr lang="en-US" sz="2400" dirty="0">
                <a:solidFill>
                  <a:srgbClr val="1A1A1A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2400" dirty="0" err="1">
                <a:solidFill>
                  <a:srgbClr val="1A1A1A"/>
                </a:solidFill>
                <a:latin typeface="DM Sans"/>
                <a:ea typeface="DM Sans"/>
                <a:cs typeface="DM Sans"/>
                <a:sym typeface="DM Sans"/>
              </a:rPr>
              <a:t>дақиқи</a:t>
            </a:r>
            <a:r>
              <a:rPr lang="en-US" sz="2400" dirty="0">
                <a:solidFill>
                  <a:srgbClr val="1A1A1A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2400" dirty="0" err="1">
                <a:solidFill>
                  <a:srgbClr val="1A1A1A"/>
                </a:solidFill>
                <a:latin typeface="DM Sans"/>
                <a:ea typeface="DM Sans"/>
                <a:cs typeface="DM Sans"/>
                <a:sym typeface="DM Sans"/>
              </a:rPr>
              <a:t>клиникӣ</a:t>
            </a:r>
            <a:r>
              <a:rPr lang="en-US" sz="2400" dirty="0">
                <a:solidFill>
                  <a:srgbClr val="1A1A1A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2400" dirty="0" err="1">
                <a:solidFill>
                  <a:srgbClr val="1A1A1A"/>
                </a:solidFill>
                <a:latin typeface="DM Sans"/>
                <a:ea typeface="DM Sans"/>
                <a:cs typeface="DM Sans"/>
                <a:sym typeface="DM Sans"/>
              </a:rPr>
              <a:t>медиҳад</a:t>
            </a:r>
            <a:r>
              <a:rPr lang="en-US" sz="2400" dirty="0">
                <a:solidFill>
                  <a:srgbClr val="1A1A1A"/>
                </a:solidFill>
                <a:latin typeface="DM Sans"/>
                <a:ea typeface="DM Sans"/>
                <a:cs typeface="DM Sans"/>
                <a:sym typeface="DM Sans"/>
              </a:rPr>
              <a:t>:</a:t>
            </a:r>
            <a:endParaRPr sz="2400" dirty="0"/>
          </a:p>
        </p:txBody>
      </p:sp>
      <p:sp>
        <p:nvSpPr>
          <p:cNvPr id="146" name="Google Shape;146;p18"/>
          <p:cNvSpPr txBox="1"/>
          <p:nvPr/>
        </p:nvSpPr>
        <p:spPr>
          <a:xfrm>
            <a:off x="5733194" y="3101479"/>
            <a:ext cx="4696418" cy="615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2000" b="1" dirty="0" err="1">
                <a:solidFill>
                  <a:srgbClr val="1A1A1A"/>
                </a:solidFill>
                <a:latin typeface="DM Sans"/>
                <a:ea typeface="DM Sans"/>
                <a:cs typeface="DM Sans"/>
                <a:sym typeface="DM Sans"/>
              </a:rPr>
              <a:t>Пешгирии</a:t>
            </a:r>
            <a:r>
              <a:rPr lang="en-US" sz="2000" b="1" dirty="0">
                <a:solidFill>
                  <a:srgbClr val="1A1A1A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2000" b="1" dirty="0" err="1">
                <a:solidFill>
                  <a:srgbClr val="1A1A1A"/>
                </a:solidFill>
                <a:latin typeface="DM Sans"/>
                <a:ea typeface="DM Sans"/>
                <a:cs typeface="DM Sans"/>
                <a:sym typeface="DM Sans"/>
              </a:rPr>
              <a:t>хатогиҳо</a:t>
            </a:r>
            <a:r>
              <a:rPr lang="en-US" sz="2000" b="1" dirty="0">
                <a:solidFill>
                  <a:srgbClr val="1A1A1A"/>
                </a:solidFill>
                <a:latin typeface="DM Sans"/>
                <a:ea typeface="DM Sans"/>
                <a:cs typeface="DM Sans"/>
                <a:sym typeface="DM Sans"/>
              </a:rPr>
              <a:t>:</a:t>
            </a:r>
            <a:r>
              <a:rPr lang="en-US" sz="2000" dirty="0">
                <a:solidFill>
                  <a:srgbClr val="1A1A1A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2000" dirty="0" err="1">
                <a:solidFill>
                  <a:srgbClr val="1A1A1A"/>
                </a:solidFill>
                <a:latin typeface="DM Sans"/>
                <a:ea typeface="DM Sans"/>
                <a:cs typeface="DM Sans"/>
                <a:sym typeface="DM Sans"/>
              </a:rPr>
              <a:t>Огоҳӣ</a:t>
            </a:r>
            <a:r>
              <a:rPr lang="en-US" sz="2000" dirty="0">
                <a:solidFill>
                  <a:srgbClr val="1A1A1A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2000" dirty="0" err="1">
                <a:solidFill>
                  <a:srgbClr val="1A1A1A"/>
                </a:solidFill>
                <a:latin typeface="DM Sans"/>
                <a:ea typeface="DM Sans"/>
                <a:cs typeface="DM Sans"/>
                <a:sym typeface="DM Sans"/>
              </a:rPr>
              <a:t>дар</a:t>
            </a:r>
            <a:r>
              <a:rPr lang="en-US" sz="2000" dirty="0">
                <a:solidFill>
                  <a:srgbClr val="1A1A1A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2000" dirty="0" err="1">
                <a:solidFill>
                  <a:srgbClr val="1A1A1A"/>
                </a:solidFill>
                <a:latin typeface="DM Sans"/>
                <a:ea typeface="DM Sans"/>
                <a:cs typeface="DM Sans"/>
                <a:sym typeface="DM Sans"/>
              </a:rPr>
              <a:t>бораи</a:t>
            </a:r>
            <a:r>
              <a:rPr lang="en-US" sz="2000" dirty="0">
                <a:solidFill>
                  <a:srgbClr val="1A1A1A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2000" dirty="0" err="1">
                <a:solidFill>
                  <a:srgbClr val="1A1A1A"/>
                </a:solidFill>
                <a:latin typeface="DM Sans"/>
                <a:ea typeface="DM Sans"/>
                <a:cs typeface="DM Sans"/>
                <a:sym typeface="DM Sans"/>
              </a:rPr>
              <a:t>таъсири</a:t>
            </a:r>
            <a:r>
              <a:rPr lang="en-US" sz="2000" dirty="0">
                <a:solidFill>
                  <a:srgbClr val="1A1A1A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2000" dirty="0" err="1">
                <a:solidFill>
                  <a:srgbClr val="1A1A1A"/>
                </a:solidFill>
                <a:latin typeface="DM Sans"/>
                <a:ea typeface="DM Sans"/>
                <a:cs typeface="DM Sans"/>
                <a:sym typeface="DM Sans"/>
              </a:rPr>
              <a:t>мутақобилаи</a:t>
            </a:r>
            <a:r>
              <a:rPr lang="en-US" sz="2000" dirty="0">
                <a:solidFill>
                  <a:srgbClr val="1A1A1A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2000" dirty="0" err="1">
                <a:solidFill>
                  <a:srgbClr val="1A1A1A"/>
                </a:solidFill>
                <a:latin typeface="DM Sans"/>
                <a:ea typeface="DM Sans"/>
                <a:cs typeface="DM Sans"/>
                <a:sym typeface="DM Sans"/>
              </a:rPr>
              <a:t>номатлуби</a:t>
            </a:r>
            <a:r>
              <a:rPr lang="en-US" sz="2000" dirty="0">
                <a:solidFill>
                  <a:srgbClr val="1A1A1A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2000" dirty="0" err="1">
                <a:solidFill>
                  <a:srgbClr val="1A1A1A"/>
                </a:solidFill>
                <a:latin typeface="DM Sans"/>
                <a:ea typeface="DM Sans"/>
                <a:cs typeface="DM Sans"/>
                <a:sym typeface="DM Sans"/>
              </a:rPr>
              <a:t>доруҳо</a:t>
            </a:r>
            <a:r>
              <a:rPr lang="en-US" sz="2000" dirty="0">
                <a:solidFill>
                  <a:srgbClr val="1A1A1A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  <a:endParaRPr sz="2000" dirty="0"/>
          </a:p>
        </p:txBody>
      </p:sp>
      <p:sp>
        <p:nvSpPr>
          <p:cNvPr id="147" name="Google Shape;147;p18"/>
          <p:cNvSpPr/>
          <p:nvPr/>
        </p:nvSpPr>
        <p:spPr>
          <a:xfrm flipH="1">
            <a:off x="5616645" y="3140776"/>
            <a:ext cx="45719" cy="504057"/>
          </a:xfrm>
          <a:prstGeom prst="rect">
            <a:avLst/>
          </a:prstGeom>
          <a:solidFill>
            <a:srgbClr val="00A3AD"/>
          </a:solidFill>
          <a:ln>
            <a:noFill/>
          </a:ln>
        </p:spPr>
        <p:txBody>
          <a:bodyPr spcFirstLastPara="1" wrap="square" lIns="91401" tIns="45688" rIns="91401" bIns="45688" anchor="ctr" anchorCtr="0">
            <a:noAutofit/>
          </a:bodyPr>
          <a:lstStyle/>
          <a:p>
            <a:pPr algn="ctr"/>
            <a:endParaRPr sz="179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8"/>
          <p:cNvSpPr txBox="1"/>
          <p:nvPr/>
        </p:nvSpPr>
        <p:spPr>
          <a:xfrm>
            <a:off x="5733194" y="3933056"/>
            <a:ext cx="4825714" cy="615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2000" b="1" dirty="0" err="1">
                <a:solidFill>
                  <a:srgbClr val="1A1A1A"/>
                </a:solidFill>
                <a:latin typeface="DM Sans"/>
                <a:ea typeface="DM Sans"/>
                <a:cs typeface="DM Sans"/>
                <a:sym typeface="DM Sans"/>
              </a:rPr>
              <a:t>Оптимизатсияи</a:t>
            </a:r>
            <a:r>
              <a:rPr lang="en-US" sz="2000" b="1" dirty="0">
                <a:solidFill>
                  <a:srgbClr val="1A1A1A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2000" b="1" dirty="0" err="1">
                <a:solidFill>
                  <a:srgbClr val="1A1A1A"/>
                </a:solidFill>
                <a:latin typeface="DM Sans"/>
                <a:ea typeface="DM Sans"/>
                <a:cs typeface="DM Sans"/>
                <a:sym typeface="DM Sans"/>
              </a:rPr>
              <a:t>табобат</a:t>
            </a:r>
            <a:r>
              <a:rPr lang="en-US" sz="2000" b="1" dirty="0">
                <a:solidFill>
                  <a:srgbClr val="1A1A1A"/>
                </a:solidFill>
                <a:latin typeface="DM Sans"/>
                <a:ea typeface="DM Sans"/>
                <a:cs typeface="DM Sans"/>
                <a:sym typeface="DM Sans"/>
              </a:rPr>
              <a:t>:</a:t>
            </a:r>
            <a:r>
              <a:rPr lang="en-US" sz="2000" dirty="0">
                <a:solidFill>
                  <a:srgbClr val="1A1A1A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2000" dirty="0" err="1">
                <a:solidFill>
                  <a:srgbClr val="1A1A1A"/>
                </a:solidFill>
                <a:latin typeface="DM Sans"/>
                <a:ea typeface="DM Sans"/>
                <a:cs typeface="DM Sans"/>
                <a:sym typeface="DM Sans"/>
              </a:rPr>
              <a:t>Навсозии</a:t>
            </a:r>
            <a:r>
              <a:rPr lang="en-US" sz="2000" dirty="0">
                <a:solidFill>
                  <a:srgbClr val="1A1A1A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2000" dirty="0" err="1">
                <a:solidFill>
                  <a:srgbClr val="1A1A1A"/>
                </a:solidFill>
                <a:latin typeface="DM Sans"/>
                <a:ea typeface="DM Sans"/>
                <a:cs typeface="DM Sans"/>
                <a:sym typeface="DM Sans"/>
              </a:rPr>
              <a:t>нақшаи</a:t>
            </a:r>
            <a:r>
              <a:rPr lang="en-US" sz="2000" dirty="0">
                <a:solidFill>
                  <a:srgbClr val="1A1A1A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2000" dirty="0" err="1">
                <a:solidFill>
                  <a:srgbClr val="1A1A1A"/>
                </a:solidFill>
                <a:latin typeface="DM Sans"/>
                <a:ea typeface="DM Sans"/>
                <a:cs typeface="DM Sans"/>
                <a:sym typeface="DM Sans"/>
              </a:rPr>
              <a:t>табобат</a:t>
            </a:r>
            <a:r>
              <a:rPr lang="en-US" sz="2000" dirty="0">
                <a:solidFill>
                  <a:srgbClr val="1A1A1A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2000" dirty="0" err="1">
                <a:solidFill>
                  <a:srgbClr val="1A1A1A"/>
                </a:solidFill>
                <a:latin typeface="DM Sans"/>
                <a:ea typeface="DM Sans"/>
                <a:cs typeface="DM Sans"/>
                <a:sym typeface="DM Sans"/>
              </a:rPr>
              <a:t>дар</a:t>
            </a:r>
            <a:r>
              <a:rPr lang="en-US" sz="2000" dirty="0">
                <a:solidFill>
                  <a:srgbClr val="1A1A1A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2000" dirty="0" err="1">
                <a:solidFill>
                  <a:srgbClr val="1A1A1A"/>
                </a:solidFill>
                <a:latin typeface="DM Sans"/>
                <a:ea typeface="DM Sans"/>
                <a:cs typeface="DM Sans"/>
                <a:sym typeface="DM Sans"/>
              </a:rPr>
              <a:t>асоси</a:t>
            </a:r>
            <a:r>
              <a:rPr lang="en-US" sz="2000" dirty="0">
                <a:solidFill>
                  <a:srgbClr val="1A1A1A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2000" dirty="0" err="1">
                <a:solidFill>
                  <a:srgbClr val="1A1A1A"/>
                </a:solidFill>
                <a:latin typeface="DM Sans"/>
                <a:ea typeface="DM Sans"/>
                <a:cs typeface="DM Sans"/>
                <a:sym typeface="DM Sans"/>
              </a:rPr>
              <a:t>тағйироти</a:t>
            </a:r>
            <a:r>
              <a:rPr lang="en-US" sz="2000" dirty="0">
                <a:solidFill>
                  <a:srgbClr val="1A1A1A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2000" dirty="0" err="1">
                <a:solidFill>
                  <a:srgbClr val="1A1A1A"/>
                </a:solidFill>
                <a:latin typeface="DM Sans"/>
                <a:ea typeface="DM Sans"/>
                <a:cs typeface="DM Sans"/>
                <a:sym typeface="DM Sans"/>
              </a:rPr>
              <a:t>ҳолати</a:t>
            </a:r>
            <a:r>
              <a:rPr lang="en-US" sz="2000" dirty="0">
                <a:solidFill>
                  <a:srgbClr val="1A1A1A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2000" dirty="0" err="1">
                <a:solidFill>
                  <a:srgbClr val="1A1A1A"/>
                </a:solidFill>
                <a:latin typeface="DM Sans"/>
                <a:ea typeface="DM Sans"/>
                <a:cs typeface="DM Sans"/>
                <a:sym typeface="DM Sans"/>
              </a:rPr>
              <a:t>бемор</a:t>
            </a:r>
            <a:r>
              <a:rPr lang="en-US" sz="2000" dirty="0">
                <a:solidFill>
                  <a:srgbClr val="1A1A1A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  <a:endParaRPr sz="2000" dirty="0"/>
          </a:p>
        </p:txBody>
      </p:sp>
      <p:sp>
        <p:nvSpPr>
          <p:cNvPr id="149" name="Google Shape;149;p18"/>
          <p:cNvSpPr/>
          <p:nvPr/>
        </p:nvSpPr>
        <p:spPr>
          <a:xfrm>
            <a:off x="5616645" y="4005064"/>
            <a:ext cx="45719" cy="504056"/>
          </a:xfrm>
          <a:prstGeom prst="rect">
            <a:avLst/>
          </a:prstGeom>
          <a:solidFill>
            <a:srgbClr val="00A3AD"/>
          </a:solidFill>
          <a:ln>
            <a:noFill/>
          </a:ln>
        </p:spPr>
        <p:txBody>
          <a:bodyPr spcFirstLastPara="1" wrap="square" lIns="91401" tIns="45688" rIns="91401" bIns="45688" anchor="ctr" anchorCtr="0">
            <a:noAutofit/>
          </a:bodyPr>
          <a:lstStyle/>
          <a:p>
            <a:pPr algn="ctr"/>
            <a:endParaRPr sz="179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8"/>
          <p:cNvSpPr txBox="1"/>
          <p:nvPr/>
        </p:nvSpPr>
        <p:spPr>
          <a:xfrm>
            <a:off x="5733194" y="4732948"/>
            <a:ext cx="4256026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2000" b="1" dirty="0" err="1">
                <a:solidFill>
                  <a:srgbClr val="1A1A1A"/>
                </a:solidFill>
                <a:latin typeface="DM Sans"/>
                <a:ea typeface="DM Sans"/>
                <a:cs typeface="DM Sans"/>
                <a:sym typeface="DM Sans"/>
              </a:rPr>
              <a:t>Интихоби</a:t>
            </a:r>
            <a:r>
              <a:rPr lang="en-US" sz="2000" b="1" dirty="0">
                <a:solidFill>
                  <a:srgbClr val="1A1A1A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tg-Cyrl-TJ" sz="2000" b="1" dirty="0">
                <a:solidFill>
                  <a:srgbClr val="1A1A1A"/>
                </a:solidFill>
                <a:latin typeface="DM Sans"/>
                <a:ea typeface="DM Sans"/>
                <a:cs typeface="DM Sans"/>
                <a:sym typeface="DM Sans"/>
              </a:rPr>
              <a:t>миқдори дору</a:t>
            </a:r>
            <a:r>
              <a:rPr lang="en-US" sz="2000" b="1" dirty="0">
                <a:solidFill>
                  <a:srgbClr val="1A1A1A"/>
                </a:solidFill>
                <a:latin typeface="DM Sans"/>
                <a:ea typeface="DM Sans"/>
                <a:cs typeface="DM Sans"/>
                <a:sym typeface="DM Sans"/>
              </a:rPr>
              <a:t> (Dosing):</a:t>
            </a:r>
            <a:r>
              <a:rPr lang="en-US" sz="2000" dirty="0">
                <a:solidFill>
                  <a:srgbClr val="1A1A1A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2000" dirty="0" err="1">
                <a:solidFill>
                  <a:srgbClr val="1A1A1A"/>
                </a:solidFill>
                <a:latin typeface="DM Sans"/>
                <a:ea typeface="DM Sans"/>
                <a:cs typeface="DM Sans"/>
                <a:sym typeface="DM Sans"/>
              </a:rPr>
              <a:t>Ҳисобкунии</a:t>
            </a:r>
            <a:r>
              <a:rPr lang="en-US" sz="2000" dirty="0">
                <a:solidFill>
                  <a:srgbClr val="1A1A1A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tg-Cyrl-TJ" sz="2000" dirty="0">
                <a:solidFill>
                  <a:srgbClr val="1A1A1A"/>
                </a:solidFill>
                <a:latin typeface="DM Sans"/>
                <a:ea typeface="DM Sans"/>
                <a:cs typeface="DM Sans"/>
                <a:sym typeface="DM Sans"/>
              </a:rPr>
              <a:t>миқдор</a:t>
            </a:r>
            <a:r>
              <a:rPr lang="en-US" sz="2000" dirty="0">
                <a:solidFill>
                  <a:srgbClr val="1A1A1A"/>
                </a:solidFill>
                <a:latin typeface="DM Sans"/>
                <a:ea typeface="DM Sans"/>
                <a:cs typeface="DM Sans"/>
                <a:sym typeface="DM Sans"/>
              </a:rPr>
              <a:t>и </a:t>
            </a:r>
            <a:r>
              <a:rPr lang="en-US" sz="2000" dirty="0" err="1">
                <a:solidFill>
                  <a:srgbClr val="1A1A1A"/>
                </a:solidFill>
                <a:latin typeface="DM Sans"/>
                <a:ea typeface="DM Sans"/>
                <a:cs typeface="DM Sans"/>
                <a:sym typeface="DM Sans"/>
              </a:rPr>
              <a:t>бехатар</a:t>
            </a:r>
            <a:r>
              <a:rPr lang="tg-Cyrl-TJ" sz="2000" dirty="0">
                <a:solidFill>
                  <a:srgbClr val="1A1A1A"/>
                </a:solidFill>
                <a:latin typeface="DM Sans"/>
                <a:ea typeface="DM Sans"/>
                <a:cs typeface="DM Sans"/>
                <a:sym typeface="DM Sans"/>
              </a:rPr>
              <a:t>у</a:t>
            </a:r>
            <a:r>
              <a:rPr lang="en-US" sz="2000" dirty="0">
                <a:solidFill>
                  <a:srgbClr val="1A1A1A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2000" dirty="0" err="1">
                <a:solidFill>
                  <a:srgbClr val="1A1A1A"/>
                </a:solidFill>
                <a:latin typeface="DM Sans"/>
                <a:ea typeface="DM Sans"/>
                <a:cs typeface="DM Sans"/>
                <a:sym typeface="DM Sans"/>
              </a:rPr>
              <a:t>самарабахши</a:t>
            </a:r>
            <a:r>
              <a:rPr lang="en-US" sz="2000" dirty="0">
                <a:solidFill>
                  <a:srgbClr val="1A1A1A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2000" dirty="0" err="1">
                <a:solidFill>
                  <a:srgbClr val="1A1A1A"/>
                </a:solidFill>
                <a:latin typeface="DM Sans"/>
                <a:ea typeface="DM Sans"/>
                <a:cs typeface="DM Sans"/>
                <a:sym typeface="DM Sans"/>
              </a:rPr>
              <a:t>дору</a:t>
            </a:r>
            <a:r>
              <a:rPr lang="en-US" sz="2000" dirty="0">
                <a:solidFill>
                  <a:srgbClr val="1A1A1A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2000" dirty="0" err="1">
                <a:solidFill>
                  <a:srgbClr val="1A1A1A"/>
                </a:solidFill>
                <a:latin typeface="DM Sans"/>
                <a:ea typeface="DM Sans"/>
                <a:cs typeface="DM Sans"/>
                <a:sym typeface="DM Sans"/>
              </a:rPr>
              <a:t>барои</a:t>
            </a:r>
            <a:r>
              <a:rPr lang="en-US" sz="2000" dirty="0">
                <a:solidFill>
                  <a:srgbClr val="1A1A1A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2000" dirty="0" err="1">
                <a:solidFill>
                  <a:srgbClr val="1A1A1A"/>
                </a:solidFill>
                <a:latin typeface="DM Sans"/>
                <a:ea typeface="DM Sans"/>
                <a:cs typeface="DM Sans"/>
                <a:sym typeface="DM Sans"/>
              </a:rPr>
              <a:t>фард</a:t>
            </a:r>
            <a:r>
              <a:rPr lang="en-US" sz="2000" dirty="0">
                <a:solidFill>
                  <a:srgbClr val="1A1A1A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  <a:endParaRPr sz="2000" dirty="0"/>
          </a:p>
        </p:txBody>
      </p:sp>
      <p:sp>
        <p:nvSpPr>
          <p:cNvPr id="151" name="Google Shape;151;p18"/>
          <p:cNvSpPr/>
          <p:nvPr/>
        </p:nvSpPr>
        <p:spPr>
          <a:xfrm>
            <a:off x="5616645" y="4869160"/>
            <a:ext cx="45719" cy="720080"/>
          </a:xfrm>
          <a:prstGeom prst="rect">
            <a:avLst/>
          </a:prstGeom>
          <a:solidFill>
            <a:srgbClr val="00A3AD"/>
          </a:solidFill>
          <a:ln>
            <a:noFill/>
          </a:ln>
        </p:spPr>
        <p:txBody>
          <a:bodyPr spcFirstLastPara="1" wrap="square" lIns="91401" tIns="45688" rIns="91401" bIns="45688" anchor="ctr" anchorCtr="0">
            <a:noAutofit/>
          </a:bodyPr>
          <a:lstStyle/>
          <a:p>
            <a:pPr algn="ctr"/>
            <a:endParaRPr sz="179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8"/>
          <p:cNvSpPr txBox="1"/>
          <p:nvPr/>
        </p:nvSpPr>
        <p:spPr>
          <a:xfrm>
            <a:off x="261764" y="116632"/>
            <a:ext cx="9433048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ru-RU" sz="3200" b="1" dirty="0" err="1"/>
              <a:t>Системаи</a:t>
            </a:r>
            <a:r>
              <a:rPr lang="ru-RU" sz="3200" b="1" dirty="0"/>
              <a:t> </a:t>
            </a:r>
            <a:r>
              <a:rPr lang="ru-RU" sz="3200" b="1" dirty="0" err="1"/>
              <a:t>дастгирии</a:t>
            </a:r>
            <a:r>
              <a:rPr lang="ru-RU" sz="3200" b="1" dirty="0"/>
              <a:t> </a:t>
            </a:r>
            <a:r>
              <a:rPr lang="ru-RU" sz="3200" b="1" dirty="0" err="1"/>
              <a:t>қабули</a:t>
            </a:r>
            <a:r>
              <a:rPr lang="ru-RU" sz="3200" b="1" dirty="0"/>
              <a:t> </a:t>
            </a:r>
            <a:r>
              <a:rPr lang="ru-RU" sz="3200" b="1" dirty="0" err="1"/>
              <a:t>қарорҳои</a:t>
            </a:r>
            <a:r>
              <a:rPr lang="ru-RU" sz="3200" b="1" dirty="0"/>
              <a:t> </a:t>
            </a:r>
            <a:r>
              <a:rPr lang="ru-RU" sz="3200" b="1" dirty="0" err="1"/>
              <a:t>тиббӣ</a:t>
            </a:r>
            <a:br>
              <a:rPr lang="ru-RU" sz="3200" b="1" dirty="0"/>
            </a:br>
            <a:r>
              <a:rPr lang="en-US" sz="2800" dirty="0"/>
              <a:t>Clinical decision support system (CDSS)</a:t>
            </a:r>
            <a:endParaRPr sz="2800" dirty="0"/>
          </a:p>
        </p:txBody>
      </p:sp>
      <p:sp>
        <p:nvSpPr>
          <p:cNvPr id="153" name="Google Shape;153;p18"/>
          <p:cNvSpPr/>
          <p:nvPr/>
        </p:nvSpPr>
        <p:spPr>
          <a:xfrm>
            <a:off x="117748" y="188640"/>
            <a:ext cx="45719" cy="827758"/>
          </a:xfrm>
          <a:prstGeom prst="rect">
            <a:avLst/>
          </a:prstGeom>
          <a:solidFill>
            <a:srgbClr val="00A3AD"/>
          </a:solidFill>
          <a:ln>
            <a:noFill/>
          </a:ln>
        </p:spPr>
        <p:txBody>
          <a:bodyPr spcFirstLastPara="1" wrap="square" lIns="91401" tIns="45688" rIns="91401" bIns="45688" anchor="ctr" anchorCtr="0">
            <a:noAutofit/>
          </a:bodyPr>
          <a:lstStyle/>
          <a:p>
            <a:pPr algn="ctr"/>
            <a:endParaRPr sz="179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Заголовок 12"/>
          <p:cNvSpPr>
            <a:spLocks noGrp="1"/>
          </p:cNvSpPr>
          <p:nvPr>
            <p:ph type="title"/>
          </p:nvPr>
        </p:nvSpPr>
        <p:spPr>
          <a:xfrm>
            <a:off x="677158" y="260648"/>
            <a:ext cx="8594429" cy="1008112"/>
          </a:xfrm>
        </p:spPr>
        <p:txBody>
          <a:bodyPr rtlCol="0">
            <a:normAutofit/>
          </a:bodyPr>
          <a:lstStyle/>
          <a:p>
            <a:r>
              <a:rPr lang="ru-RU" sz="3200" dirty="0" err="1"/>
              <a:t>Марҳилаҳои</a:t>
            </a:r>
            <a:r>
              <a:rPr lang="ru-RU" sz="3200" dirty="0"/>
              <a:t> </a:t>
            </a:r>
            <a:r>
              <a:rPr lang="ru-RU" sz="3200" dirty="0" err="1"/>
              <a:t>татбиқи</a:t>
            </a:r>
            <a:r>
              <a:rPr lang="ru-RU" sz="3200" dirty="0"/>
              <a:t> </a:t>
            </a:r>
            <a:r>
              <a:rPr lang="ru-RU" sz="3200" dirty="0" err="1"/>
              <a:t>омӯзиши</a:t>
            </a:r>
            <a:r>
              <a:rPr lang="ru-RU" sz="3200" dirty="0"/>
              <a:t> </a:t>
            </a:r>
            <a:r>
              <a:rPr lang="ru-RU" sz="3200" dirty="0" err="1"/>
              <a:t>мошинӣ</a:t>
            </a:r>
            <a:r>
              <a:rPr lang="ru-RU" sz="3200" dirty="0"/>
              <a:t> (</a:t>
            </a:r>
            <a:r>
              <a:rPr lang="en-US" sz="3200" dirty="0"/>
              <a:t>ML)</a:t>
            </a:r>
            <a:endParaRPr lang="ru-RU" sz="3200" dirty="0"/>
          </a:p>
        </p:txBody>
      </p:sp>
      <p:sp>
        <p:nvSpPr>
          <p:cNvPr id="14" name="Объект 13"/>
          <p:cNvSpPr>
            <a:spLocks noGrp="1"/>
          </p:cNvSpPr>
          <p:nvPr>
            <p:ph idx="1"/>
          </p:nvPr>
        </p:nvSpPr>
        <p:spPr>
          <a:xfrm>
            <a:off x="677158" y="1268760"/>
            <a:ext cx="8594429" cy="5328592"/>
          </a:xfrm>
        </p:spPr>
        <p:txBody>
          <a:bodyPr rtlCol="0">
            <a:noAutofit/>
          </a:bodyPr>
          <a:lstStyle/>
          <a:p>
            <a:r>
              <a:rPr lang="ru-RU" sz="2400" b="1" dirty="0" err="1"/>
              <a:t>Марҳилаи</a:t>
            </a:r>
            <a:r>
              <a:rPr lang="ru-RU" sz="2400" b="1" dirty="0"/>
              <a:t> 1:</a:t>
            </a:r>
            <a:r>
              <a:rPr lang="ru-RU" sz="2400" dirty="0"/>
              <a:t> </a:t>
            </a:r>
            <a:r>
              <a:rPr lang="ru-RU" sz="2400" b="1" dirty="0" err="1"/>
              <a:t>Интихоби</a:t>
            </a:r>
            <a:r>
              <a:rPr lang="ru-RU" sz="2400" b="1" dirty="0"/>
              <a:t> </a:t>
            </a:r>
            <a:r>
              <a:rPr lang="ru-RU" sz="2400" b="1" dirty="0" err="1"/>
              <a:t>нишондиҳандаҳои</a:t>
            </a:r>
            <a:r>
              <a:rPr lang="ru-RU" sz="2400" b="1" dirty="0"/>
              <a:t> </a:t>
            </a:r>
            <a:r>
              <a:rPr lang="ru-RU" sz="2400" b="1" dirty="0" err="1"/>
              <a:t>муҳим</a:t>
            </a:r>
            <a:r>
              <a:rPr lang="ru-RU" sz="2400" dirty="0"/>
              <a:t> — аз </a:t>
            </a:r>
            <a:r>
              <a:rPr lang="ru-RU" sz="2400" dirty="0" err="1"/>
              <a:t>нишондиҳандаҳои</a:t>
            </a:r>
            <a:r>
              <a:rPr lang="ru-RU" sz="2400" dirty="0"/>
              <a:t> </a:t>
            </a:r>
            <a:r>
              <a:rPr lang="ru-RU" sz="2400" dirty="0" err="1"/>
              <a:t>дил</a:t>
            </a:r>
            <a:r>
              <a:rPr lang="ru-RU" sz="2400" dirty="0"/>
              <a:t> </a:t>
            </a:r>
            <a:r>
              <a:rPr lang="ru-RU" sz="2400" dirty="0" err="1"/>
              <a:t>муҳимтаринашро</a:t>
            </a:r>
            <a:r>
              <a:rPr lang="ru-RU" sz="2400" dirty="0"/>
              <a:t>, </a:t>
            </a:r>
            <a:r>
              <a:rPr lang="ru-RU" sz="2400" dirty="0" err="1"/>
              <a:t>ки</a:t>
            </a:r>
            <a:r>
              <a:rPr lang="ru-RU" sz="2400" dirty="0"/>
              <a:t> </a:t>
            </a:r>
            <a:r>
              <a:rPr lang="ru-RU" sz="2400" dirty="0" err="1"/>
              <a:t>тавассути</a:t>
            </a:r>
            <a:r>
              <a:rPr lang="ru-RU" sz="2400" dirty="0"/>
              <a:t> УЗИ (</a:t>
            </a:r>
            <a:r>
              <a:rPr lang="ru-RU" sz="2400" dirty="0" err="1"/>
              <a:t>ЭхоКГ</a:t>
            </a:r>
            <a:r>
              <a:rPr lang="ru-RU" sz="2400" dirty="0"/>
              <a:t>) </a:t>
            </a:r>
            <a:r>
              <a:rPr lang="ru-RU" sz="2400" dirty="0" err="1"/>
              <a:t>дақиқ</a:t>
            </a:r>
            <a:r>
              <a:rPr lang="ru-RU" sz="2400" dirty="0"/>
              <a:t> </a:t>
            </a:r>
            <a:r>
              <a:rPr lang="ru-RU" sz="2400" dirty="0" err="1"/>
              <a:t>муайян</a:t>
            </a:r>
            <a:r>
              <a:rPr lang="ru-RU" sz="2400" dirty="0"/>
              <a:t> кардан </a:t>
            </a:r>
            <a:r>
              <a:rPr lang="ru-RU" sz="2400" dirty="0" err="1"/>
              <a:t>мумкин</a:t>
            </a:r>
            <a:r>
              <a:rPr lang="ru-RU" sz="2400" dirty="0"/>
              <a:t> </a:t>
            </a:r>
            <a:r>
              <a:rPr lang="ru-RU" sz="2400" dirty="0" err="1"/>
              <a:t>аст</a:t>
            </a:r>
            <a:r>
              <a:rPr lang="ru-RU" sz="2400" dirty="0"/>
              <a:t>, </a:t>
            </a:r>
            <a:r>
              <a:rPr lang="ru-RU" sz="2400" dirty="0" err="1"/>
              <a:t>ҷудо</a:t>
            </a:r>
            <a:r>
              <a:rPr lang="ru-RU" sz="2400" dirty="0"/>
              <a:t> </a:t>
            </a:r>
            <a:r>
              <a:rPr lang="ru-RU" sz="2400" dirty="0" err="1"/>
              <a:t>мекунем</a:t>
            </a:r>
            <a:r>
              <a:rPr lang="ru-RU" sz="2400" dirty="0"/>
              <a:t>. </a:t>
            </a:r>
          </a:p>
          <a:p>
            <a:r>
              <a:rPr lang="ru-RU" sz="2400" b="1" dirty="0" err="1"/>
              <a:t>Марҳилаи</a:t>
            </a:r>
            <a:r>
              <a:rPr lang="ru-RU" sz="2400" b="1" dirty="0"/>
              <a:t> 2:</a:t>
            </a:r>
            <a:r>
              <a:rPr lang="ru-RU" sz="2400" dirty="0"/>
              <a:t> </a:t>
            </a:r>
            <a:r>
              <a:rPr lang="ru-RU" sz="2400" b="1" dirty="0" err="1"/>
              <a:t>Сохтани</a:t>
            </a:r>
            <a:r>
              <a:rPr lang="ru-RU" sz="2400" b="1" dirty="0"/>
              <a:t> </a:t>
            </a:r>
            <a:r>
              <a:rPr lang="ru-RU" sz="2400" b="1" dirty="0" err="1"/>
              <a:t>базаи</a:t>
            </a:r>
            <a:r>
              <a:rPr lang="ru-RU" sz="2400" b="1" dirty="0"/>
              <a:t> </a:t>
            </a:r>
            <a:r>
              <a:rPr lang="ru-RU" sz="2400" b="1" dirty="0" err="1"/>
              <a:t>омӯзишӣ</a:t>
            </a:r>
            <a:r>
              <a:rPr lang="ru-RU" sz="2400" dirty="0"/>
              <a:t> — </a:t>
            </a:r>
            <a:r>
              <a:rPr lang="ru-RU" sz="2400" dirty="0" err="1"/>
              <a:t>эҷоди</a:t>
            </a:r>
            <a:r>
              <a:rPr lang="ru-RU" sz="2400" dirty="0"/>
              <a:t> 15 000 </a:t>
            </a:r>
            <a:r>
              <a:rPr lang="ru-RU" sz="2400" dirty="0" err="1"/>
              <a:t>ҳолати</a:t>
            </a:r>
            <a:r>
              <a:rPr lang="ru-RU" sz="2400" dirty="0"/>
              <a:t> </a:t>
            </a:r>
            <a:r>
              <a:rPr lang="ru-RU" sz="2400" dirty="0" err="1"/>
              <a:t>виртуалии</a:t>
            </a:r>
            <a:r>
              <a:rPr lang="ru-RU" sz="2400" dirty="0"/>
              <a:t> </a:t>
            </a:r>
            <a:r>
              <a:rPr lang="ru-RU" sz="2400" dirty="0" err="1"/>
              <a:t>беморон</a:t>
            </a:r>
            <a:r>
              <a:rPr lang="ru-RU" sz="2400" dirty="0"/>
              <a:t> </a:t>
            </a:r>
            <a:r>
              <a:rPr lang="ru-RU" sz="2400" dirty="0" err="1"/>
              <a:t>бо</a:t>
            </a:r>
            <a:r>
              <a:rPr lang="ru-RU" sz="2400" dirty="0"/>
              <a:t> </a:t>
            </a:r>
            <a:r>
              <a:rPr lang="ru-RU" sz="2400" dirty="0" err="1"/>
              <a:t>хатогиҳои</a:t>
            </a:r>
            <a:r>
              <a:rPr lang="ru-RU" sz="2400" dirty="0"/>
              <a:t> </a:t>
            </a:r>
            <a:r>
              <a:rPr lang="ru-RU" sz="2400" dirty="0" err="1"/>
              <a:t>воқеии</a:t>
            </a:r>
            <a:r>
              <a:rPr lang="ru-RU" sz="2400" dirty="0"/>
              <a:t> УЗИ </a:t>
            </a:r>
            <a:r>
              <a:rPr lang="ru-RU" sz="2400" dirty="0" err="1"/>
              <a:t>барои</a:t>
            </a:r>
            <a:r>
              <a:rPr lang="ru-RU" sz="2400" dirty="0"/>
              <a:t> </a:t>
            </a:r>
            <a:r>
              <a:rPr lang="ru-RU" sz="2400" dirty="0" err="1"/>
              <a:t>омӯзиши</a:t>
            </a:r>
            <a:r>
              <a:rPr lang="ru-RU" sz="2400" dirty="0"/>
              <a:t> </a:t>
            </a:r>
            <a:r>
              <a:rPr lang="ru-RU" sz="2400" dirty="0" err="1"/>
              <a:t>зеҳни</a:t>
            </a:r>
            <a:r>
              <a:rPr lang="ru-RU" sz="2400" dirty="0"/>
              <a:t> </a:t>
            </a:r>
            <a:r>
              <a:rPr lang="ru-RU" sz="2400" dirty="0" err="1"/>
              <a:t>сунъӣ</a:t>
            </a:r>
            <a:r>
              <a:rPr lang="ru-RU" sz="2400" dirty="0"/>
              <a:t>. </a:t>
            </a:r>
          </a:p>
          <a:p>
            <a:r>
              <a:rPr lang="ru-RU" sz="2400" b="1" dirty="0" err="1"/>
              <a:t>Марҳилаи</a:t>
            </a:r>
            <a:r>
              <a:rPr lang="ru-RU" sz="2400" b="1" dirty="0"/>
              <a:t> 3:</a:t>
            </a:r>
            <a:r>
              <a:rPr lang="ru-RU" sz="2400" dirty="0"/>
              <a:t> </a:t>
            </a:r>
            <a:r>
              <a:rPr lang="ru-RU" sz="2400" b="1" dirty="0"/>
              <a:t>Тез </a:t>
            </a:r>
            <a:r>
              <a:rPr lang="ru-RU" sz="2400" b="1" dirty="0" err="1"/>
              <a:t>кардани</a:t>
            </a:r>
            <a:r>
              <a:rPr lang="ru-RU" sz="2400" b="1" dirty="0"/>
              <a:t> </a:t>
            </a:r>
            <a:r>
              <a:rPr lang="ru-RU" sz="2400" b="1" dirty="0" err="1"/>
              <a:t>ҳисобҳо</a:t>
            </a:r>
            <a:r>
              <a:rPr lang="ru-RU" sz="2400" dirty="0"/>
              <a:t> — </a:t>
            </a:r>
            <a:r>
              <a:rPr lang="ru-RU" sz="2400" dirty="0" err="1"/>
              <a:t>эҷоди</a:t>
            </a:r>
            <a:r>
              <a:rPr lang="ru-RU" sz="2400" dirty="0"/>
              <a:t> модели </a:t>
            </a:r>
            <a:r>
              <a:rPr lang="ru-RU" sz="2400" dirty="0" err="1"/>
              <a:t>суръатбахш</a:t>
            </a:r>
            <a:r>
              <a:rPr lang="ru-RU" sz="2400" dirty="0"/>
              <a:t>, </a:t>
            </a:r>
            <a:r>
              <a:rPr lang="ru-RU" sz="2400" dirty="0" err="1"/>
              <a:t>ки</a:t>
            </a:r>
            <a:r>
              <a:rPr lang="ru-RU" sz="2400" dirty="0"/>
              <a:t> </a:t>
            </a:r>
            <a:r>
              <a:rPr lang="ru-RU" sz="2400" dirty="0" err="1"/>
              <a:t>вақти</a:t>
            </a:r>
            <a:r>
              <a:rPr lang="ru-RU" sz="2400" dirty="0"/>
              <a:t> </a:t>
            </a:r>
            <a:r>
              <a:rPr lang="ru-RU" sz="2400" dirty="0" err="1"/>
              <a:t>ҳисобкунии</a:t>
            </a:r>
            <a:r>
              <a:rPr lang="ru-RU" sz="2400" dirty="0"/>
              <a:t> </a:t>
            </a:r>
            <a:r>
              <a:rPr lang="ru-RU" sz="2400" dirty="0" err="1"/>
              <a:t>ҳолати</a:t>
            </a:r>
            <a:r>
              <a:rPr lang="ru-RU" sz="2400" dirty="0"/>
              <a:t> </a:t>
            </a:r>
            <a:r>
              <a:rPr lang="ru-RU" sz="2400" dirty="0" err="1"/>
              <a:t>дилро</a:t>
            </a:r>
            <a:r>
              <a:rPr lang="ru-RU" sz="2400" dirty="0"/>
              <a:t> аз 10 </a:t>
            </a:r>
            <a:r>
              <a:rPr lang="ru-RU" sz="2400" dirty="0" err="1"/>
              <a:t>сония</a:t>
            </a:r>
            <a:r>
              <a:rPr lang="ru-RU" sz="2400" dirty="0"/>
              <a:t> то 1 </a:t>
            </a:r>
            <a:r>
              <a:rPr lang="ru-RU" sz="2400" dirty="0" err="1"/>
              <a:t>миллисония</a:t>
            </a:r>
            <a:r>
              <a:rPr lang="ru-RU" sz="2400" dirty="0"/>
              <a:t> </a:t>
            </a:r>
            <a:r>
              <a:rPr lang="ru-RU" sz="2400" dirty="0" err="1"/>
              <a:t>коҳиш</a:t>
            </a:r>
            <a:r>
              <a:rPr lang="ru-RU" sz="2400" dirty="0"/>
              <a:t> </a:t>
            </a:r>
            <a:r>
              <a:rPr lang="ru-RU" sz="2400" dirty="0" err="1"/>
              <a:t>медиҳад</a:t>
            </a:r>
            <a:r>
              <a:rPr lang="ru-RU" sz="2400" dirty="0"/>
              <a:t>.</a:t>
            </a:r>
          </a:p>
          <a:p>
            <a:r>
              <a:rPr lang="ru-RU" sz="2400" b="1" dirty="0" err="1"/>
              <a:t>Марҳилаи</a:t>
            </a:r>
            <a:r>
              <a:rPr lang="ru-RU" sz="2400" b="1" dirty="0"/>
              <a:t> 4:</a:t>
            </a:r>
            <a:r>
              <a:rPr lang="ru-RU" sz="2400" dirty="0"/>
              <a:t> </a:t>
            </a:r>
            <a:r>
              <a:rPr lang="ru-RU" sz="2400" b="1" dirty="0" err="1"/>
              <a:t>Муайян</a:t>
            </a:r>
            <a:r>
              <a:rPr lang="ru-RU" sz="2400" b="1" dirty="0"/>
              <a:t> </a:t>
            </a:r>
            <a:r>
              <a:rPr lang="ru-RU" sz="2400" b="1" dirty="0" err="1"/>
              <a:t>кардани</a:t>
            </a:r>
            <a:r>
              <a:rPr lang="ru-RU" sz="2400" b="1" dirty="0"/>
              <a:t> </a:t>
            </a:r>
            <a:r>
              <a:rPr lang="ru-RU" sz="2400" b="1" dirty="0" err="1"/>
              <a:t>нишондиҳандаҳои</a:t>
            </a:r>
            <a:r>
              <a:rPr lang="ru-RU" sz="2400" b="1" dirty="0"/>
              <a:t> </a:t>
            </a:r>
            <a:r>
              <a:rPr lang="ru-RU" sz="2400" b="1" dirty="0" err="1"/>
              <a:t>бемор</a:t>
            </a:r>
            <a:r>
              <a:rPr lang="ru-RU" sz="2400" dirty="0"/>
              <a:t> — </a:t>
            </a:r>
            <a:r>
              <a:rPr lang="ru-RU" sz="2400" dirty="0" err="1"/>
              <a:t>барқарор</a:t>
            </a:r>
            <a:r>
              <a:rPr lang="ru-RU" sz="2400" dirty="0"/>
              <a:t> </a:t>
            </a:r>
            <a:r>
              <a:rPr lang="ru-RU" sz="2400" dirty="0" err="1"/>
              <a:t>кардани</a:t>
            </a:r>
            <a:r>
              <a:rPr lang="ru-RU" sz="2400" dirty="0"/>
              <a:t> </a:t>
            </a:r>
            <a:r>
              <a:rPr lang="ru-RU" sz="2400" dirty="0" err="1"/>
              <a:t>параметрҳои</a:t>
            </a:r>
            <a:r>
              <a:rPr lang="ru-RU" sz="2400" dirty="0"/>
              <a:t> </a:t>
            </a:r>
            <a:r>
              <a:rPr lang="ru-RU" sz="2400" dirty="0" err="1"/>
              <a:t>фардӣ</a:t>
            </a:r>
            <a:r>
              <a:rPr lang="ru-RU" sz="2400" dirty="0"/>
              <a:t> </a:t>
            </a:r>
            <a:r>
              <a:rPr lang="ru-RU" sz="2400" dirty="0" err="1"/>
              <a:t>ва</a:t>
            </a:r>
            <a:r>
              <a:rPr lang="ru-RU" sz="2400" dirty="0"/>
              <a:t> </a:t>
            </a:r>
            <a:r>
              <a:rPr lang="ru-RU" sz="2400" dirty="0" err="1"/>
              <a:t>беназири</a:t>
            </a:r>
            <a:r>
              <a:rPr lang="ru-RU" sz="2400" dirty="0"/>
              <a:t> </a:t>
            </a:r>
            <a:r>
              <a:rPr lang="ru-RU" sz="2400" dirty="0" err="1"/>
              <a:t>дили</a:t>
            </a:r>
            <a:r>
              <a:rPr lang="ru-RU" sz="2400" dirty="0"/>
              <a:t> </a:t>
            </a:r>
            <a:r>
              <a:rPr lang="ru-RU" sz="2400" dirty="0" err="1"/>
              <a:t>бемор</a:t>
            </a:r>
            <a:r>
              <a:rPr lang="ru-RU" sz="2400" dirty="0"/>
              <a:t> аз </a:t>
            </a:r>
            <a:r>
              <a:rPr lang="ru-RU" sz="2400" dirty="0" err="1"/>
              <a:t>рӯи</a:t>
            </a:r>
            <a:r>
              <a:rPr lang="ru-RU" sz="2400" dirty="0"/>
              <a:t> </a:t>
            </a:r>
            <a:r>
              <a:rPr lang="ru-RU" sz="2400" dirty="0" err="1"/>
              <a:t>натиҷаҳои</a:t>
            </a:r>
            <a:r>
              <a:rPr lang="ru-RU" sz="2400" dirty="0"/>
              <a:t> УЗИ-и ӯ.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6521635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Заголовок 12"/>
          <p:cNvSpPr>
            <a:spLocks noGrp="1"/>
          </p:cNvSpPr>
          <p:nvPr>
            <p:ph type="title"/>
          </p:nvPr>
        </p:nvSpPr>
        <p:spPr>
          <a:xfrm>
            <a:off x="677158" y="260648"/>
            <a:ext cx="8594429" cy="1008112"/>
          </a:xfrm>
        </p:spPr>
        <p:txBody>
          <a:bodyPr rtlCol="0">
            <a:normAutofit/>
          </a:bodyPr>
          <a:lstStyle/>
          <a:p>
            <a:r>
              <a:rPr lang="ru-RU" sz="3200" dirty="0" err="1"/>
              <a:t>Марҳилаҳои</a:t>
            </a:r>
            <a:r>
              <a:rPr lang="ru-RU" sz="3200" dirty="0"/>
              <a:t> </a:t>
            </a:r>
            <a:r>
              <a:rPr lang="ru-RU" sz="3200" dirty="0" err="1"/>
              <a:t>татбиқи</a:t>
            </a:r>
            <a:r>
              <a:rPr lang="ru-RU" sz="3200" dirty="0"/>
              <a:t> </a:t>
            </a:r>
            <a:r>
              <a:rPr lang="ru-RU" sz="3200" dirty="0" err="1"/>
              <a:t>омӯзиши</a:t>
            </a:r>
            <a:r>
              <a:rPr lang="ru-RU" sz="3200" dirty="0"/>
              <a:t> </a:t>
            </a:r>
            <a:r>
              <a:rPr lang="ru-RU" sz="3200" dirty="0" err="1"/>
              <a:t>мошинӣ</a:t>
            </a:r>
            <a:r>
              <a:rPr lang="ru-RU" sz="3200" dirty="0"/>
              <a:t> (</a:t>
            </a:r>
            <a:r>
              <a:rPr lang="en-US" sz="3200" dirty="0"/>
              <a:t>ML)</a:t>
            </a:r>
            <a:endParaRPr lang="ru-RU" sz="3200" dirty="0"/>
          </a:p>
        </p:txBody>
      </p:sp>
      <p:sp>
        <p:nvSpPr>
          <p:cNvPr id="14" name="Объект 13"/>
          <p:cNvSpPr>
            <a:spLocks noGrp="1"/>
          </p:cNvSpPr>
          <p:nvPr>
            <p:ph idx="1"/>
          </p:nvPr>
        </p:nvSpPr>
        <p:spPr>
          <a:xfrm>
            <a:off x="677158" y="1268760"/>
            <a:ext cx="8594429" cy="5328592"/>
          </a:xfrm>
        </p:spPr>
        <p:txBody>
          <a:bodyPr rtlCol="0">
            <a:noAutofit/>
          </a:bodyPr>
          <a:lstStyle/>
          <a:p>
            <a:r>
              <a:rPr lang="ru-RU" sz="2400" b="1" dirty="0" err="1"/>
              <a:t>Марҳилаи</a:t>
            </a:r>
            <a:r>
              <a:rPr lang="ru-RU" sz="2400" b="1" dirty="0"/>
              <a:t> 5:</a:t>
            </a:r>
            <a:r>
              <a:rPr lang="ru-RU" sz="2400" dirty="0"/>
              <a:t> </a:t>
            </a:r>
            <a:r>
              <a:rPr lang="ru-RU" sz="2400" b="1" dirty="0" err="1"/>
              <a:t>Пешгӯӣ</a:t>
            </a:r>
            <a:r>
              <a:rPr lang="ru-RU" sz="2400" b="1" dirty="0"/>
              <a:t> </a:t>
            </a:r>
            <a:r>
              <a:rPr lang="ru-RU" sz="2400" b="1" dirty="0" err="1"/>
              <a:t>ва</a:t>
            </a:r>
            <a:r>
              <a:rPr lang="ru-RU" sz="2400" b="1" dirty="0"/>
              <a:t> </a:t>
            </a:r>
            <a:r>
              <a:rPr lang="ru-RU" sz="2400" b="1" dirty="0" err="1"/>
              <a:t>дашборд</a:t>
            </a:r>
            <a:r>
              <a:rPr lang="ru-RU" sz="2400" dirty="0"/>
              <a:t> — </a:t>
            </a:r>
            <a:r>
              <a:rPr lang="ru-RU" sz="2400" dirty="0" err="1"/>
              <a:t>ворид</a:t>
            </a:r>
            <a:r>
              <a:rPr lang="ru-RU" sz="2400" dirty="0"/>
              <a:t> </a:t>
            </a:r>
            <a:r>
              <a:rPr lang="ru-RU" sz="2400" dirty="0" err="1"/>
              <a:t>кардани</a:t>
            </a:r>
            <a:r>
              <a:rPr lang="ru-RU" sz="2400" dirty="0"/>
              <a:t> </a:t>
            </a:r>
            <a:r>
              <a:rPr lang="ru-RU" sz="2400" dirty="0" err="1"/>
              <a:t>маълумоти</a:t>
            </a:r>
            <a:r>
              <a:rPr lang="ru-RU" sz="2400" dirty="0"/>
              <a:t> </a:t>
            </a:r>
            <a:r>
              <a:rPr lang="ru-RU" sz="2400" dirty="0" err="1"/>
              <a:t>бемор</a:t>
            </a:r>
            <a:r>
              <a:rPr lang="ru-RU" sz="2400" dirty="0"/>
              <a:t> </a:t>
            </a:r>
            <a:r>
              <a:rPr lang="ru-RU" sz="2400" dirty="0" err="1"/>
              <a:t>ва</a:t>
            </a:r>
            <a:r>
              <a:rPr lang="ru-RU" sz="2400" dirty="0"/>
              <a:t> </a:t>
            </a:r>
            <a:r>
              <a:rPr lang="ru-RU" sz="2400" dirty="0" err="1"/>
              <a:t>пешгӯии</a:t>
            </a:r>
            <a:r>
              <a:rPr lang="ru-RU" sz="2400" dirty="0"/>
              <a:t> он, </a:t>
            </a:r>
            <a:r>
              <a:rPr lang="ru-RU" sz="2400" dirty="0" err="1"/>
              <a:t>ки</a:t>
            </a:r>
            <a:r>
              <a:rPr lang="ru-RU" sz="2400" dirty="0"/>
              <a:t> пас аз </a:t>
            </a:r>
            <a:r>
              <a:rPr lang="ru-RU" sz="2400" dirty="0" err="1"/>
              <a:t>ҷарроҳии</a:t>
            </a:r>
            <a:r>
              <a:rPr lang="ru-RU" sz="2400" dirty="0"/>
              <a:t> </a:t>
            </a:r>
            <a:r>
              <a:rPr lang="ru-RU" sz="2400" dirty="0" err="1"/>
              <a:t>пӯшонидани</a:t>
            </a:r>
            <a:r>
              <a:rPr lang="ru-RU" sz="2400" dirty="0"/>
              <a:t> </a:t>
            </a:r>
            <a:r>
              <a:rPr lang="ru-RU" sz="2400" dirty="0" err="1"/>
              <a:t>нуқсони</a:t>
            </a:r>
            <a:r>
              <a:rPr lang="ru-RU" sz="2400" dirty="0"/>
              <a:t> </a:t>
            </a:r>
            <a:r>
              <a:rPr lang="ru-RU" sz="2400" dirty="0" err="1"/>
              <a:t>дил</a:t>
            </a:r>
            <a:r>
              <a:rPr lang="ru-RU" sz="2400" dirty="0"/>
              <a:t> (ДМЖП) </a:t>
            </a:r>
            <a:r>
              <a:rPr lang="ru-RU" sz="2400" dirty="0" err="1"/>
              <a:t>фишор</a:t>
            </a:r>
            <a:r>
              <a:rPr lang="ru-RU" sz="2400" dirty="0"/>
              <a:t> </a:t>
            </a:r>
            <a:r>
              <a:rPr lang="ru-RU" sz="2400" dirty="0" err="1"/>
              <a:t>ва</a:t>
            </a:r>
            <a:r>
              <a:rPr lang="ru-RU" sz="2400" dirty="0"/>
              <a:t> </a:t>
            </a:r>
            <a:r>
              <a:rPr lang="ru-RU" sz="2400" dirty="0" err="1"/>
              <a:t>гардиши</a:t>
            </a:r>
            <a:r>
              <a:rPr lang="ru-RU" sz="2400" dirty="0"/>
              <a:t> </a:t>
            </a:r>
            <a:r>
              <a:rPr lang="ru-RU" sz="2400" dirty="0" err="1"/>
              <a:t>хун</a:t>
            </a:r>
            <a:r>
              <a:rPr lang="ru-RU" sz="2400" dirty="0"/>
              <a:t> </a:t>
            </a:r>
            <a:r>
              <a:rPr lang="ru-RU" sz="2400" dirty="0" err="1"/>
              <a:t>чӣ</a:t>
            </a:r>
            <a:r>
              <a:rPr lang="ru-RU" sz="2400" dirty="0"/>
              <a:t> тавр </a:t>
            </a:r>
            <a:r>
              <a:rPr lang="ru-RU" sz="2400" dirty="0" err="1"/>
              <a:t>тағйир</a:t>
            </a:r>
            <a:r>
              <a:rPr lang="ru-RU" sz="2400" dirty="0"/>
              <a:t> </a:t>
            </a:r>
            <a:r>
              <a:rPr lang="ru-RU" sz="2400" dirty="0" err="1"/>
              <a:t>меёбанд</a:t>
            </a:r>
            <a:r>
              <a:rPr lang="ru-RU" sz="2400" dirty="0"/>
              <a:t>. </a:t>
            </a:r>
          </a:p>
          <a:p>
            <a:r>
              <a:rPr lang="ru-RU" sz="2400" b="1" dirty="0" err="1"/>
              <a:t>Марҳилаи</a:t>
            </a:r>
            <a:r>
              <a:rPr lang="ru-RU" sz="2400" b="1" dirty="0"/>
              <a:t> 6:</a:t>
            </a:r>
            <a:r>
              <a:rPr lang="ru-RU" sz="2400" dirty="0"/>
              <a:t> </a:t>
            </a:r>
            <a:r>
              <a:rPr lang="ru-RU" sz="2400" b="1" dirty="0" err="1"/>
              <a:t>Санҷиши</a:t>
            </a:r>
            <a:r>
              <a:rPr lang="ru-RU" sz="2400" b="1" dirty="0"/>
              <a:t> </a:t>
            </a:r>
            <a:r>
              <a:rPr lang="ru-RU" sz="2400" b="1" dirty="0" err="1"/>
              <a:t>эътимоднокӣ</a:t>
            </a:r>
            <a:r>
              <a:rPr lang="ru-RU" sz="2400" dirty="0"/>
              <a:t> — </a:t>
            </a:r>
            <a:r>
              <a:rPr lang="ru-RU" sz="2400" dirty="0" err="1"/>
              <a:t>озмоиши</a:t>
            </a:r>
            <a:r>
              <a:rPr lang="ru-RU" sz="2400" dirty="0"/>
              <a:t> </a:t>
            </a:r>
            <a:r>
              <a:rPr lang="ru-RU" sz="2400" dirty="0" err="1"/>
              <a:t>зеҳни</a:t>
            </a:r>
            <a:r>
              <a:rPr lang="ru-RU" sz="2400" dirty="0"/>
              <a:t> </a:t>
            </a:r>
            <a:r>
              <a:rPr lang="ru-RU" sz="2400" dirty="0" err="1"/>
              <a:t>сунъӣ</a:t>
            </a:r>
            <a:r>
              <a:rPr lang="ru-RU" sz="2400" dirty="0"/>
              <a:t> дар </a:t>
            </a:r>
            <a:r>
              <a:rPr lang="ru-RU" sz="2400" dirty="0" err="1"/>
              <a:t>ҳолатҳои</a:t>
            </a:r>
            <a:r>
              <a:rPr lang="ru-RU" sz="2400" dirty="0"/>
              <a:t> </a:t>
            </a:r>
            <a:r>
              <a:rPr lang="ru-RU" sz="2400" dirty="0" err="1"/>
              <a:t>мураккабу</a:t>
            </a:r>
            <a:r>
              <a:rPr lang="ru-RU" sz="2400" dirty="0"/>
              <a:t> </a:t>
            </a:r>
            <a:r>
              <a:rPr lang="ru-RU" sz="2400" dirty="0" err="1"/>
              <a:t>вазнини</a:t>
            </a:r>
            <a:r>
              <a:rPr lang="ru-RU" sz="2400" dirty="0"/>
              <a:t> </a:t>
            </a:r>
            <a:r>
              <a:rPr lang="ru-RU" sz="2400" dirty="0" err="1"/>
              <a:t>тиббӣ</a:t>
            </a:r>
            <a:r>
              <a:rPr lang="ru-RU" sz="2400" dirty="0"/>
              <a:t> </a:t>
            </a:r>
            <a:r>
              <a:rPr lang="ru-RU" sz="2400" dirty="0" err="1"/>
              <a:t>барои</a:t>
            </a:r>
            <a:r>
              <a:rPr lang="ru-RU" sz="2400" dirty="0"/>
              <a:t> </a:t>
            </a:r>
            <a:r>
              <a:rPr lang="ru-RU" sz="2400" dirty="0" err="1"/>
              <a:t>кафолати</a:t>
            </a:r>
            <a:r>
              <a:rPr lang="ru-RU" sz="2400" dirty="0"/>
              <a:t> </a:t>
            </a:r>
            <a:r>
              <a:rPr lang="ru-RU" sz="2400" dirty="0" err="1"/>
              <a:t>дақиқии</a:t>
            </a:r>
            <a:r>
              <a:rPr lang="ru-RU" sz="2400" dirty="0"/>
              <a:t> </a:t>
            </a:r>
            <a:r>
              <a:rPr lang="ru-RU" sz="2400" dirty="0" err="1"/>
              <a:t>кор</a:t>
            </a:r>
            <a:r>
              <a:rPr lang="ru-RU" sz="2400" dirty="0"/>
              <a:t>. </a:t>
            </a:r>
          </a:p>
          <a:p>
            <a:r>
              <a:rPr lang="ru-RU" sz="2400" b="1" dirty="0" err="1"/>
              <a:t>Марҳилаи</a:t>
            </a:r>
            <a:r>
              <a:rPr lang="ru-RU" sz="2400" b="1" dirty="0"/>
              <a:t> 7:</a:t>
            </a:r>
            <a:r>
              <a:rPr lang="ru-RU" sz="2400" dirty="0"/>
              <a:t> </a:t>
            </a:r>
            <a:r>
              <a:rPr lang="ru-RU" sz="2400" b="1" dirty="0" err="1"/>
              <a:t>Супоридани</a:t>
            </a:r>
            <a:r>
              <a:rPr lang="ru-RU" sz="2400" b="1" dirty="0"/>
              <a:t> </a:t>
            </a:r>
            <a:r>
              <a:rPr lang="ru-RU" sz="2400" b="1" dirty="0" err="1"/>
              <a:t>маҳсулоти</a:t>
            </a:r>
            <a:r>
              <a:rPr lang="ru-RU" sz="2400" b="1" dirty="0"/>
              <a:t> </a:t>
            </a:r>
            <a:r>
              <a:rPr lang="ru-RU" sz="2400" b="1" dirty="0" err="1"/>
              <a:t>тайёр</a:t>
            </a:r>
            <a:r>
              <a:rPr lang="ru-RU" sz="2400" dirty="0"/>
              <a:t> — </a:t>
            </a:r>
            <a:r>
              <a:rPr lang="ru-RU" sz="2400" dirty="0" err="1"/>
              <a:t>таҳвили</a:t>
            </a:r>
            <a:r>
              <a:rPr lang="ru-RU" sz="2400" dirty="0"/>
              <a:t> </a:t>
            </a:r>
            <a:r>
              <a:rPr lang="ru-RU" sz="2400" dirty="0" err="1"/>
              <a:t>пӯрраи</a:t>
            </a:r>
            <a:r>
              <a:rPr lang="ru-RU" sz="2400" dirty="0"/>
              <a:t> </a:t>
            </a:r>
            <a:r>
              <a:rPr lang="ru-RU" sz="2400" dirty="0" err="1"/>
              <a:t>барномаи</a:t>
            </a:r>
            <a:r>
              <a:rPr lang="ru-RU" sz="2400" dirty="0"/>
              <a:t> </a:t>
            </a:r>
            <a:r>
              <a:rPr lang="ru-RU" sz="2400" dirty="0" err="1"/>
              <a:t>санҷидашуда</a:t>
            </a:r>
            <a:r>
              <a:rPr lang="ru-RU" sz="2400" dirty="0"/>
              <a:t>, </a:t>
            </a:r>
            <a:r>
              <a:rPr lang="ru-RU" sz="2400" dirty="0" err="1"/>
              <a:t>модулҳои</a:t>
            </a:r>
            <a:r>
              <a:rPr lang="ru-RU" sz="2400" dirty="0"/>
              <a:t> </a:t>
            </a:r>
            <a:r>
              <a:rPr lang="ru-RU" sz="2400" dirty="0" err="1"/>
              <a:t>зеҳни</a:t>
            </a:r>
            <a:r>
              <a:rPr lang="ru-RU" sz="2400" dirty="0"/>
              <a:t> </a:t>
            </a:r>
            <a:r>
              <a:rPr lang="ru-RU" sz="2400" dirty="0" err="1"/>
              <a:t>сунъӣ</a:t>
            </a:r>
            <a:r>
              <a:rPr lang="ru-RU" sz="2400" dirty="0"/>
              <a:t> </a:t>
            </a:r>
            <a:r>
              <a:rPr lang="ru-RU" sz="2400" dirty="0" err="1"/>
              <a:t>ва</a:t>
            </a:r>
            <a:r>
              <a:rPr lang="ru-RU" sz="2400" dirty="0"/>
              <a:t> </a:t>
            </a:r>
            <a:r>
              <a:rPr lang="ru-RU" sz="2400" dirty="0" err="1"/>
              <a:t>интерфейси</a:t>
            </a:r>
            <a:r>
              <a:rPr lang="ru-RU" sz="2400" dirty="0"/>
              <a:t> </a:t>
            </a:r>
            <a:r>
              <a:rPr lang="ru-RU" sz="2400" dirty="0" err="1"/>
              <a:t>корӣ</a:t>
            </a:r>
            <a:r>
              <a:rPr lang="ru-RU" sz="2400" dirty="0"/>
              <a:t> </a:t>
            </a:r>
            <a:r>
              <a:rPr lang="ru-RU" sz="2400" dirty="0" err="1"/>
              <a:t>барои</a:t>
            </a:r>
            <a:r>
              <a:rPr lang="ru-RU" sz="2400" dirty="0"/>
              <a:t> </a:t>
            </a:r>
            <a:r>
              <a:rPr lang="ru-RU" sz="2400" dirty="0" err="1"/>
              <a:t>ташхиси</a:t>
            </a:r>
            <a:r>
              <a:rPr lang="ru-RU" sz="2400" dirty="0"/>
              <a:t> </a:t>
            </a:r>
            <a:r>
              <a:rPr lang="ru-RU" sz="2400" dirty="0" err="1"/>
              <a:t>калонсолон</a:t>
            </a:r>
            <a:r>
              <a:rPr lang="ru-RU" sz="2400" dirty="0"/>
              <a:t>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7634233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Заголовок 12"/>
          <p:cNvSpPr>
            <a:spLocks noGrp="1"/>
          </p:cNvSpPr>
          <p:nvPr>
            <p:ph type="title"/>
          </p:nvPr>
        </p:nvSpPr>
        <p:spPr>
          <a:xfrm>
            <a:off x="677158" y="260648"/>
            <a:ext cx="8594429" cy="720080"/>
          </a:xfrm>
        </p:spPr>
        <p:txBody>
          <a:bodyPr rtlCol="0">
            <a:normAutofit/>
          </a:bodyPr>
          <a:lstStyle/>
          <a:p>
            <a:r>
              <a:rPr lang="ru-RU" sz="3200" dirty="0" err="1"/>
              <a:t>Якчанд</a:t>
            </a:r>
            <a:r>
              <a:rPr lang="ru-RU" sz="3200" dirty="0"/>
              <a:t> </a:t>
            </a:r>
            <a:r>
              <a:rPr lang="ru-RU" sz="3200" dirty="0" err="1"/>
              <a:t>графикҳо</a:t>
            </a:r>
            <a:r>
              <a:rPr lang="ru-RU" sz="3200" dirty="0"/>
              <a:t> </a:t>
            </a:r>
            <a:r>
              <a:rPr lang="ru-RU" sz="3200" dirty="0" err="1"/>
              <a:t>ва</a:t>
            </a:r>
            <a:r>
              <a:rPr lang="ru-RU" sz="3200" dirty="0"/>
              <a:t> </a:t>
            </a:r>
            <a:r>
              <a:rPr lang="ru-RU" sz="3200" dirty="0" err="1"/>
              <a:t>скриншотҳо</a:t>
            </a:r>
            <a:endParaRPr lang="ru-RU" sz="3200" dirty="0"/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615D5E66-5212-4E3E-AC15-ED7168A17D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4917" y="836712"/>
            <a:ext cx="11278989" cy="5981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63344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Заголовок 12"/>
          <p:cNvSpPr>
            <a:spLocks noGrp="1"/>
          </p:cNvSpPr>
          <p:nvPr>
            <p:ph type="title"/>
          </p:nvPr>
        </p:nvSpPr>
        <p:spPr>
          <a:xfrm>
            <a:off x="677158" y="260648"/>
            <a:ext cx="8594429" cy="720080"/>
          </a:xfrm>
        </p:spPr>
        <p:txBody>
          <a:bodyPr rtlCol="0">
            <a:normAutofit/>
          </a:bodyPr>
          <a:lstStyle/>
          <a:p>
            <a:r>
              <a:rPr lang="ru-RU" sz="3200" dirty="0" err="1"/>
              <a:t>Якчанд</a:t>
            </a:r>
            <a:r>
              <a:rPr lang="ru-RU" sz="3200" dirty="0"/>
              <a:t> </a:t>
            </a:r>
            <a:r>
              <a:rPr lang="ru-RU" sz="3200" dirty="0" err="1"/>
              <a:t>графикҳо</a:t>
            </a:r>
            <a:r>
              <a:rPr lang="ru-RU" sz="3200" dirty="0"/>
              <a:t> </a:t>
            </a:r>
            <a:r>
              <a:rPr lang="ru-RU" sz="3200" dirty="0" err="1"/>
              <a:t>ва</a:t>
            </a:r>
            <a:r>
              <a:rPr lang="ru-RU" sz="3200" dirty="0"/>
              <a:t> </a:t>
            </a:r>
            <a:r>
              <a:rPr lang="ru-RU" sz="3200" dirty="0" err="1"/>
              <a:t>скриншотҳо</a:t>
            </a:r>
            <a:endParaRPr lang="ru-RU" sz="3200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7ECF5A9E-2579-4AAF-923D-41BDBC2BB2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263" y="980728"/>
            <a:ext cx="10546297" cy="57363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36508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Заголовок 12"/>
          <p:cNvSpPr>
            <a:spLocks noGrp="1"/>
          </p:cNvSpPr>
          <p:nvPr>
            <p:ph type="title"/>
          </p:nvPr>
        </p:nvSpPr>
        <p:spPr>
          <a:xfrm>
            <a:off x="677158" y="260648"/>
            <a:ext cx="8594429" cy="720080"/>
          </a:xfrm>
        </p:spPr>
        <p:txBody>
          <a:bodyPr rtlCol="0">
            <a:normAutofit/>
          </a:bodyPr>
          <a:lstStyle/>
          <a:p>
            <a:r>
              <a:rPr lang="ru-RU" sz="3200" dirty="0" err="1"/>
              <a:t>Якчанд</a:t>
            </a:r>
            <a:r>
              <a:rPr lang="ru-RU" sz="3200" dirty="0"/>
              <a:t> </a:t>
            </a:r>
            <a:r>
              <a:rPr lang="ru-RU" sz="3200" dirty="0" err="1"/>
              <a:t>графикҳо</a:t>
            </a:r>
            <a:r>
              <a:rPr lang="ru-RU" sz="3200" dirty="0"/>
              <a:t> </a:t>
            </a:r>
            <a:r>
              <a:rPr lang="ru-RU" sz="3200" dirty="0" err="1"/>
              <a:t>ва</a:t>
            </a:r>
            <a:r>
              <a:rPr lang="ru-RU" sz="3200" dirty="0"/>
              <a:t> </a:t>
            </a:r>
            <a:r>
              <a:rPr lang="ru-RU" sz="3200" dirty="0" err="1"/>
              <a:t>скриншотҳо</a:t>
            </a:r>
            <a:endParaRPr lang="ru-RU" sz="3200" dirty="0"/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08F99734-563C-43BC-B866-C2A3EE191D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748" y="959046"/>
            <a:ext cx="6420746" cy="5496692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35D10B8A-7CA7-41EF-8805-5946C8FCD3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8494" y="1772817"/>
            <a:ext cx="5615837" cy="4608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53867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Заголовок 12"/>
          <p:cNvSpPr>
            <a:spLocks noGrp="1"/>
          </p:cNvSpPr>
          <p:nvPr>
            <p:ph type="title"/>
          </p:nvPr>
        </p:nvSpPr>
        <p:spPr>
          <a:xfrm>
            <a:off x="677158" y="260648"/>
            <a:ext cx="8594429" cy="720080"/>
          </a:xfrm>
        </p:spPr>
        <p:txBody>
          <a:bodyPr rtlCol="0">
            <a:normAutofit/>
          </a:bodyPr>
          <a:lstStyle/>
          <a:p>
            <a:r>
              <a:rPr lang="ru-RU" sz="3200" dirty="0" err="1"/>
              <a:t>Якчанд</a:t>
            </a:r>
            <a:r>
              <a:rPr lang="ru-RU" sz="3200" dirty="0"/>
              <a:t> </a:t>
            </a:r>
            <a:r>
              <a:rPr lang="ru-RU" sz="3200" dirty="0" err="1"/>
              <a:t>графикҳо</a:t>
            </a:r>
            <a:r>
              <a:rPr lang="ru-RU" sz="3200" dirty="0"/>
              <a:t> </a:t>
            </a:r>
            <a:r>
              <a:rPr lang="ru-RU" sz="3200" dirty="0" err="1"/>
              <a:t>ва</a:t>
            </a:r>
            <a:r>
              <a:rPr lang="ru-RU" sz="3200" dirty="0"/>
              <a:t> </a:t>
            </a:r>
            <a:r>
              <a:rPr lang="ru-RU" sz="3200" dirty="0" err="1"/>
              <a:t>скриншотҳо</a:t>
            </a:r>
            <a:endParaRPr lang="ru-RU" sz="3200" dirty="0"/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08F99734-563C-43BC-B866-C2A3EE191D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748" y="959046"/>
            <a:ext cx="6420746" cy="5496692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16C27831-7BF4-4696-8D38-4AD98F40AA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51688" y="1679127"/>
            <a:ext cx="6089166" cy="49902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02116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Заголовок 12"/>
          <p:cNvSpPr>
            <a:spLocks noGrp="1"/>
          </p:cNvSpPr>
          <p:nvPr>
            <p:ph type="title"/>
          </p:nvPr>
        </p:nvSpPr>
        <p:spPr>
          <a:xfrm>
            <a:off x="677158" y="260648"/>
            <a:ext cx="8594429" cy="720080"/>
          </a:xfrm>
        </p:spPr>
        <p:txBody>
          <a:bodyPr rtlCol="0">
            <a:normAutofit/>
          </a:bodyPr>
          <a:lstStyle/>
          <a:p>
            <a:r>
              <a:rPr lang="ru-RU" sz="3200" dirty="0" err="1"/>
              <a:t>Якчанд</a:t>
            </a:r>
            <a:r>
              <a:rPr lang="ru-RU" sz="3200" dirty="0"/>
              <a:t> </a:t>
            </a:r>
            <a:r>
              <a:rPr lang="ru-RU" sz="3200" dirty="0" err="1"/>
              <a:t>графикҳо</a:t>
            </a:r>
            <a:r>
              <a:rPr lang="ru-RU" sz="3200" dirty="0"/>
              <a:t> </a:t>
            </a:r>
            <a:r>
              <a:rPr lang="ru-RU" sz="3200" dirty="0" err="1"/>
              <a:t>ва</a:t>
            </a:r>
            <a:r>
              <a:rPr lang="ru-RU" sz="3200" dirty="0"/>
              <a:t> </a:t>
            </a:r>
            <a:r>
              <a:rPr lang="ru-RU" sz="3200" dirty="0" err="1"/>
              <a:t>скриншотҳо</a:t>
            </a:r>
            <a:endParaRPr lang="ru-RU" sz="3200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5F6B222C-40E3-452B-B903-D1D988B5FC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1268760"/>
            <a:ext cx="12188825" cy="2010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57945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Заголовок 12"/>
          <p:cNvSpPr>
            <a:spLocks noGrp="1"/>
          </p:cNvSpPr>
          <p:nvPr>
            <p:ph type="title"/>
          </p:nvPr>
        </p:nvSpPr>
        <p:spPr>
          <a:xfrm>
            <a:off x="677158" y="260648"/>
            <a:ext cx="8594429" cy="1008112"/>
          </a:xfrm>
        </p:spPr>
        <p:txBody>
          <a:bodyPr rtlCol="0">
            <a:normAutofit/>
          </a:bodyPr>
          <a:lstStyle/>
          <a:p>
            <a:r>
              <a:rPr lang="ru-RU" sz="3200" dirty="0" err="1"/>
              <a:t>Мақолаҳои</a:t>
            </a:r>
            <a:r>
              <a:rPr lang="ru-RU" sz="3200" dirty="0"/>
              <a:t> </a:t>
            </a:r>
            <a:r>
              <a:rPr lang="ru-RU" sz="3200" dirty="0" err="1"/>
              <a:t>чопшуда</a:t>
            </a:r>
            <a:endParaRPr lang="ru-RU" sz="3200" dirty="0"/>
          </a:p>
        </p:txBody>
      </p:sp>
      <p:sp>
        <p:nvSpPr>
          <p:cNvPr id="14" name="Объект 13"/>
          <p:cNvSpPr>
            <a:spLocks noGrp="1"/>
          </p:cNvSpPr>
          <p:nvPr>
            <p:ph idx="1"/>
          </p:nvPr>
        </p:nvSpPr>
        <p:spPr>
          <a:xfrm>
            <a:off x="677158" y="1268760"/>
            <a:ext cx="8594429" cy="5328592"/>
          </a:xfrm>
        </p:spPr>
        <p:txBody>
          <a:bodyPr rtlCol="0">
            <a:noAutofit/>
          </a:bodyPr>
          <a:lstStyle/>
          <a:p>
            <a:r>
              <a:rPr lang="ru-RU" sz="2400" dirty="0"/>
              <a:t>Мухсинов Е. М., Хакимов Р. И. О разрешимости задачи преследования для одной дифференциальной игры с дробными производными // Известия Национальной академии наук Таджикистана. 2026. 1(202). С. 73--81</a:t>
            </a:r>
          </a:p>
          <a:p>
            <a:r>
              <a:rPr lang="ru-RU" sz="2400" dirty="0"/>
              <a:t>Хакимов Р. И. Количественная оценка времени заживления язвы в терминах дифференциальных игр дробного порядка // Материалы МНТК «Современные проблемы и приложения алгебры, теории чисел и математического анализа». Душанбе, 2026. С. 250-254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2732670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Заголовок 12"/>
          <p:cNvSpPr>
            <a:spLocks noGrp="1"/>
          </p:cNvSpPr>
          <p:nvPr>
            <p:ph type="title"/>
          </p:nvPr>
        </p:nvSpPr>
        <p:spPr>
          <a:xfrm>
            <a:off x="677158" y="260648"/>
            <a:ext cx="8594429" cy="1008112"/>
          </a:xfrm>
        </p:spPr>
        <p:txBody>
          <a:bodyPr rtlCol="0">
            <a:normAutofit/>
          </a:bodyPr>
          <a:lstStyle/>
          <a:p>
            <a:r>
              <a:rPr lang="ru-RU" sz="3200" dirty="0" err="1"/>
              <a:t>Мақолаҳои</a:t>
            </a:r>
            <a:r>
              <a:rPr lang="ru-RU" sz="3200" dirty="0"/>
              <a:t> </a:t>
            </a:r>
            <a:r>
              <a:rPr lang="ru-RU" sz="3200" dirty="0" err="1"/>
              <a:t>ирсолшуда</a:t>
            </a:r>
            <a:endParaRPr lang="ru-RU" sz="3200" dirty="0"/>
          </a:p>
        </p:txBody>
      </p:sp>
      <p:sp>
        <p:nvSpPr>
          <p:cNvPr id="14" name="Объект 13"/>
          <p:cNvSpPr>
            <a:spLocks noGrp="1"/>
          </p:cNvSpPr>
          <p:nvPr>
            <p:ph idx="1"/>
          </p:nvPr>
        </p:nvSpPr>
        <p:spPr>
          <a:xfrm>
            <a:off x="677158" y="1268760"/>
            <a:ext cx="8594429" cy="5328592"/>
          </a:xfrm>
        </p:spPr>
        <p:txBody>
          <a:bodyPr rtlCol="0">
            <a:noAutofit/>
          </a:bodyPr>
          <a:lstStyle/>
          <a:p>
            <a:r>
              <a:rPr lang="ru-RU" sz="2400" dirty="0"/>
              <a:t>Мухсинов Е. М., Дифференциально-игровой подход к оценке времени заживления язвенного дефекта с учётом эффектов памяти // УОСМШ - 2026</a:t>
            </a:r>
          </a:p>
          <a:p>
            <a:r>
              <a:rPr lang="ru-RU" sz="2400" dirty="0"/>
              <a:t>Хакимов Р. И. Дифференциально-игровой подход к оценке времени заживления язвенного дефекта с учётом эффектов памяти // Вестник СПбГУ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3112663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773932" y="1052736"/>
            <a:ext cx="7497657" cy="2304256"/>
          </a:xfrm>
        </p:spPr>
        <p:txBody>
          <a:bodyPr rtlCol="0"/>
          <a:lstStyle/>
          <a:p>
            <a:r>
              <a:rPr lang="ru-RU" sz="5400" b="1" dirty="0" err="1"/>
              <a:t>Ташаккур</a:t>
            </a:r>
            <a:r>
              <a:rPr lang="ru-RU" sz="5400" b="1" dirty="0"/>
              <a:t>!</a:t>
            </a:r>
            <a:br>
              <a:rPr lang="ru-RU" sz="5400" b="1" dirty="0"/>
            </a:br>
            <a:r>
              <a:rPr lang="ru-RU" sz="4000" dirty="0" err="1"/>
              <a:t>Саволҳо</a:t>
            </a:r>
            <a:r>
              <a:rPr lang="ru-RU" sz="4000" dirty="0"/>
              <a:t>?</a:t>
            </a:r>
          </a:p>
        </p:txBody>
      </p:sp>
      <p:sp>
        <p:nvSpPr>
          <p:cNvPr id="4" name="Подзаголовок 2">
            <a:extLst>
              <a:ext uri="{FF2B5EF4-FFF2-40B4-BE49-F238E27FC236}">
                <a16:creationId xmlns:a16="http://schemas.microsoft.com/office/drawing/2014/main" id="{1E93FC99-B8F2-4E3F-8C89-E5AF3E8ED17B}"/>
              </a:ext>
            </a:extLst>
          </p:cNvPr>
          <p:cNvSpPr txBox="1">
            <a:spLocks/>
          </p:cNvSpPr>
          <p:nvPr/>
        </p:nvSpPr>
        <p:spPr>
          <a:xfrm>
            <a:off x="1528205" y="4221088"/>
            <a:ext cx="7764913" cy="109689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r" defTabSz="457063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799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063" indent="0" algn="ctr" defTabSz="457063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126" indent="0" algn="ctr" defTabSz="457063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189" indent="0" algn="ctr" defTabSz="457063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251" indent="0" algn="ctr" defTabSz="457063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5314" indent="0" algn="ctr" defTabSz="457063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2377" indent="0" algn="ctr" defTabSz="457063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199440" indent="0" algn="ctr" defTabSz="457063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6503" indent="0" algn="ctr" defTabSz="457063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tg-Cyrl-TJ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Р</a:t>
            </a:r>
            <a:r>
              <a:rPr lang="ru-RU" sz="2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аҳматҷон</a:t>
            </a:r>
            <a:r>
              <a:rPr lang="ru-RU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ru-RU" sz="2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Ҳакимов</a:t>
            </a:r>
            <a:endParaRPr lang="ru-RU" sz="2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021458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9417C756-5EBC-4337-89F6-155D8D8072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3852" y="44624"/>
            <a:ext cx="10185346" cy="6788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0888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59F992B5-297A-4728-AA70-B92E9DE9CB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2413" y="895350"/>
            <a:ext cx="9144000" cy="5067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679352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Аспект">
  <a:themeElements>
    <a:clrScheme name="Аспект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Аспект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Аспект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Тема Office">
  <a:themeElements>
    <a:clrScheme name="Math_16x9">
      <a:dk1>
        <a:srgbClr val="465562"/>
      </a:dk1>
      <a:lt1>
        <a:srgbClr val="FFFFFF"/>
      </a:lt1>
      <a:dk2>
        <a:srgbClr val="000000"/>
      </a:dk2>
      <a:lt2>
        <a:srgbClr val="F2ECE2"/>
      </a:lt2>
      <a:accent1>
        <a:srgbClr val="9BAAB7"/>
      </a:accent1>
      <a:accent2>
        <a:srgbClr val="B8D082"/>
      </a:accent2>
      <a:accent3>
        <a:srgbClr val="EFDB85"/>
      </a:accent3>
      <a:accent4>
        <a:srgbClr val="E8A565"/>
      </a:accent4>
      <a:accent5>
        <a:srgbClr val="BC9AAE"/>
      </a:accent5>
      <a:accent6>
        <a:srgbClr val="BABABA"/>
      </a:accent6>
      <a:hlink>
        <a:srgbClr val="8FC48C"/>
      </a:hlink>
      <a:folHlink>
        <a:srgbClr val="A97C96"/>
      </a:folHlink>
    </a:clrScheme>
    <a:fontScheme name="Euphemia">
      <a:majorFont>
        <a:latin typeface="Euphemia"/>
        <a:ea typeface=""/>
        <a:cs typeface=""/>
      </a:majorFont>
      <a:minorFont>
        <a:latin typeface="Euphem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Тема Office">
  <a:themeElements>
    <a:clrScheme name="Math_16x9">
      <a:dk1>
        <a:srgbClr val="465562"/>
      </a:dk1>
      <a:lt1>
        <a:srgbClr val="FFFFFF"/>
      </a:lt1>
      <a:dk2>
        <a:srgbClr val="000000"/>
      </a:dk2>
      <a:lt2>
        <a:srgbClr val="F2ECE2"/>
      </a:lt2>
      <a:accent1>
        <a:srgbClr val="9BAAB7"/>
      </a:accent1>
      <a:accent2>
        <a:srgbClr val="B8D082"/>
      </a:accent2>
      <a:accent3>
        <a:srgbClr val="EFDB85"/>
      </a:accent3>
      <a:accent4>
        <a:srgbClr val="E8A565"/>
      </a:accent4>
      <a:accent5>
        <a:srgbClr val="BC9AAE"/>
      </a:accent5>
      <a:accent6>
        <a:srgbClr val="BABABA"/>
      </a:accent6>
      <a:hlink>
        <a:srgbClr val="8FC48C"/>
      </a:hlink>
      <a:folHlink>
        <a:srgbClr val="A97C96"/>
      </a:folHlink>
    </a:clrScheme>
    <a:fontScheme name="Euphemia">
      <a:majorFont>
        <a:latin typeface="Euphemia"/>
        <a:ea typeface=""/>
        <a:cs typeface=""/>
      </a:majorFont>
      <a:minorFont>
        <a:latin typeface="Euphem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657</TotalTime>
  <Words>901</Words>
  <Application>Microsoft Office PowerPoint</Application>
  <PresentationFormat>Произвольный</PresentationFormat>
  <Paragraphs>74</Paragraphs>
  <Slides>20</Slides>
  <Notes>20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20</vt:i4>
      </vt:variant>
    </vt:vector>
  </HeadingPairs>
  <TitlesOfParts>
    <vt:vector size="27" baseType="lpstr">
      <vt:lpstr>Arial</vt:lpstr>
      <vt:lpstr>Calibri</vt:lpstr>
      <vt:lpstr>DM Sans</vt:lpstr>
      <vt:lpstr>Euphemia</vt:lpstr>
      <vt:lpstr>Trebuchet MS</vt:lpstr>
      <vt:lpstr>Wingdings 3</vt:lpstr>
      <vt:lpstr>Аспект</vt:lpstr>
      <vt:lpstr>Моделсозӣ бо зеҳни сунъӣ барои дугоники рақамии бемор дар тибби фардӣ </vt:lpstr>
      <vt:lpstr>Мушкилот: Маҳдудиятҳои тибби стандартӣ</vt:lpstr>
      <vt:lpstr>Дугоники рақамии Homo sapiens</vt:lpstr>
      <vt:lpstr>https://github.com/Oftobcom/hbs </vt:lpstr>
      <vt:lpstr>https://github.com/Oftobcom/hbs </vt:lpstr>
      <vt:lpstr>Файлҳои HBS аз рӯи афзалият ва аҳамият</vt:lpstr>
      <vt:lpstr>Файлҳои HBS аз рӯи афзалият ва аҳамият</vt:lpstr>
      <vt:lpstr>Презентация PowerPoint</vt:lpstr>
      <vt:lpstr>Марҳилаҳои татбиқи омӯзиши мошинӣ (ML)</vt:lpstr>
      <vt:lpstr>Марҳилаҳои татбиқи омӯзиши мошинӣ (ML)</vt:lpstr>
      <vt:lpstr>Якчанд графикҳо ва скриншотҳо</vt:lpstr>
      <vt:lpstr>Якчанд графикҳо ва скриншотҳо</vt:lpstr>
      <vt:lpstr>Якчанд графикҳо ва скриншотҳо</vt:lpstr>
      <vt:lpstr>Якчанд графикҳо ва скриншотҳо</vt:lpstr>
      <vt:lpstr>Якчанд графикҳо ва скриншотҳо</vt:lpstr>
      <vt:lpstr>Мақолаҳои чопшуда</vt:lpstr>
      <vt:lpstr>Мақолаҳои ирсолшуда</vt:lpstr>
      <vt:lpstr>Ташаккур! Саволҳо?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Моделсозӣ бо зеҳни сунъӣ барои дугоники рақамии бемор дар тибби фардӣ </dc:title>
  <dc:creator>Admin</dc:creator>
  <cp:lastModifiedBy>Admin</cp:lastModifiedBy>
  <cp:revision>25</cp:revision>
  <dcterms:created xsi:type="dcterms:W3CDTF">2026-05-19T10:50:04Z</dcterms:created>
  <dcterms:modified xsi:type="dcterms:W3CDTF">2026-10-20T06:39:28Z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nternalTags">
    <vt:lpwstr/>
  </property>
  <property fmtid="{D5CDD505-2E9C-101B-9397-08002B2CF9AE}" pid="3" name="ContentTypeId">
    <vt:lpwstr>0x010100AA3F7D94069FF64A86F7DFF56D60E3BE</vt:lpwstr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CampaignTags">
    <vt:lpwstr/>
  </property>
  <property fmtid="{D5CDD505-2E9C-101B-9397-08002B2CF9AE}" pid="7" name="ScenarioTags">
    <vt:lpwstr/>
  </property>
</Properties>
</file>